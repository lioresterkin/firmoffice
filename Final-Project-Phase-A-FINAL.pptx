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embeddedFontLst>
    <p:embeddedFont>
      <p:font typeface="Roboto" panose="02000000000000000000" pitchFamily="2" charset="0"/>
      <p:regular r:id="rId23"/>
      <p:italic r:id="rId24"/>
    </p:embeddedFont>
    <p:embeddedFont>
      <p:font typeface="Roboto Bold" panose="02000000000000000000" charset="0"/>
      <p:regular r:id="rId25"/>
    </p:embeddedFont>
    <p:embeddedFont>
      <p:font typeface="Roboto Slab" pitchFamily="2" charset="0"/>
      <p:regular r:id="rId26"/>
    </p:embeddedFont>
    <p:embeddedFont>
      <p:font typeface="Roboto Slab Bold" charset="0"/>
      <p:regular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114"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073014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דגשים למצגת:
הבעיה: 
איסוף מסמכים מפוזר ולא מסודר
תלות גבוהה בלקוחות - בהקשר של מסמכים
עומס עבודה ידני על צוות המשרד
קושי במעקב אחרי סטטוס לקוחות
עומס בתקופות דיווח
סיכום:
פיזור מסמכים בערוצים שונים
עומס עבודה ידני וחוזר על עצמו
קושי במעקב ובקרה אחר סטטוס לקוחות ומסמכים
טעויות אנוש, כפילויות ומסמכים לא תקינים
חוסר יעילות בתקופות עומס וחוסר שקיפות מול הלקוח</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הרעיון של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הרעיון של השקופית?</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txBody>
          <a:bodyPr/>
          <a:lstStyle/>
          <a:p>
            <a:endParaRPr lang="he-IL"/>
          </a:p>
        </p:txBody>
      </p:sp>
      <p:sp>
        <p:nvSpPr>
          <p:cNvPr id="3" name="Shape 1"/>
          <p:cNvSpPr/>
          <p:nvPr/>
        </p:nvSpPr>
        <p:spPr>
          <a:xfrm>
            <a:off x="0" y="0"/>
            <a:ext cx="12191695" cy="6858000"/>
          </a:xfrm>
          <a:prstGeom prst="rect">
            <a:avLst/>
          </a:prstGeom>
          <a:solidFill>
            <a:srgbClr val="FBFCFE"/>
          </a:solidFill>
          <a:ln/>
        </p:spPr>
        <p:txBody>
          <a:bodyPr/>
          <a:lstStyle/>
          <a:p>
            <a:endParaRPr lang="he-IL"/>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830046" y="519807"/>
            <a:ext cx="2531602" cy="600075"/>
          </a:xfrm>
          <a:prstGeom prst="rect">
            <a:avLst/>
          </a:prstGeom>
        </p:spPr>
      </p:pic>
      <p:pic>
        <p:nvPicPr>
          <p:cNvPr id="3" name="Image 1" descr="preencoded.png"/>
          <p:cNvPicPr>
            <a:picLocks noChangeAspect="1"/>
          </p:cNvPicPr>
          <p:nvPr/>
        </p:nvPicPr>
        <p:blipFill>
          <a:blip r:embed="rId4"/>
          <a:stretch>
            <a:fillRect/>
          </a:stretch>
        </p:blipFill>
        <p:spPr>
          <a:xfrm>
            <a:off x="1012998" y="1445320"/>
            <a:ext cx="3176806" cy="3249513"/>
          </a:xfrm>
          <a:prstGeom prst="rect">
            <a:avLst/>
          </a:prstGeom>
        </p:spPr>
      </p:pic>
      <p:sp>
        <p:nvSpPr>
          <p:cNvPr id="4" name="Text 0"/>
          <p:cNvSpPr/>
          <p:nvPr/>
        </p:nvSpPr>
        <p:spPr>
          <a:xfrm>
            <a:off x="4951189" y="2392065"/>
            <a:ext cx="4200817" cy="413445"/>
          </a:xfrm>
          <a:prstGeom prst="rect">
            <a:avLst/>
          </a:prstGeom>
          <a:noFill/>
          <a:ln/>
        </p:spPr>
        <p:txBody>
          <a:bodyPr wrap="none" lIns="0" tIns="0" rIns="0" bIns="0" rtlCol="0" anchor="t"/>
          <a:lstStyle/>
          <a:p>
            <a:pPr marL="0" indent="0" algn="l">
              <a:lnSpc>
                <a:spcPct val="104000"/>
              </a:lnSpc>
              <a:buNone/>
            </a:pPr>
            <a:r>
              <a:rPr lang="en-US" sz="2600" b="1" dirty="0">
                <a:solidFill>
                  <a:srgbClr val="3257B8"/>
                </a:solidFill>
                <a:latin typeface="Roboto Slab Bold" pitchFamily="34" charset="0"/>
                <a:ea typeface="Roboto Slab Bold" pitchFamily="34" charset="-122"/>
                <a:cs typeface="Roboto Slab Bold" pitchFamily="34" charset="-120"/>
              </a:rPr>
              <a:t>Integrated Accounting </a:t>
            </a:r>
            <a:endParaRPr lang="en-US" sz="2600" dirty="0"/>
          </a:p>
        </p:txBody>
      </p:sp>
      <p:sp>
        <p:nvSpPr>
          <p:cNvPr id="5" name="Text 1"/>
          <p:cNvSpPr/>
          <p:nvPr/>
        </p:nvSpPr>
        <p:spPr>
          <a:xfrm>
            <a:off x="4951189" y="2863354"/>
            <a:ext cx="5056756" cy="413445"/>
          </a:xfrm>
          <a:prstGeom prst="rect">
            <a:avLst/>
          </a:prstGeom>
          <a:noFill/>
          <a:ln/>
        </p:spPr>
        <p:txBody>
          <a:bodyPr wrap="none" lIns="0" tIns="0" rIns="0" bIns="0" rtlCol="0" anchor="t"/>
          <a:lstStyle/>
          <a:p>
            <a:pPr marL="0" indent="0" algn="l">
              <a:lnSpc>
                <a:spcPct val="104000"/>
              </a:lnSpc>
              <a:buNone/>
            </a:pPr>
            <a:r>
              <a:rPr lang="en-US" sz="2600" b="1" dirty="0">
                <a:solidFill>
                  <a:srgbClr val="3257B8"/>
                </a:solidFill>
                <a:latin typeface="Roboto Slab Bold" pitchFamily="34" charset="0"/>
                <a:ea typeface="Roboto Slab Bold" pitchFamily="34" charset="-122"/>
                <a:cs typeface="Roboto Slab Bold" pitchFamily="34" charset="-120"/>
              </a:rPr>
              <a:t>Management and Document</a:t>
            </a:r>
            <a:endParaRPr lang="en-US" sz="2600" dirty="0"/>
          </a:p>
        </p:txBody>
      </p:sp>
      <p:sp>
        <p:nvSpPr>
          <p:cNvPr id="6" name="Text 2"/>
          <p:cNvSpPr/>
          <p:nvPr/>
        </p:nvSpPr>
        <p:spPr>
          <a:xfrm>
            <a:off x="4951189" y="3334643"/>
            <a:ext cx="4099418" cy="413445"/>
          </a:xfrm>
          <a:prstGeom prst="rect">
            <a:avLst/>
          </a:prstGeom>
          <a:noFill/>
          <a:ln/>
        </p:spPr>
        <p:txBody>
          <a:bodyPr wrap="none" lIns="0" tIns="0" rIns="0" bIns="0" rtlCol="0" anchor="t"/>
          <a:lstStyle/>
          <a:p>
            <a:pPr marL="0" indent="0" algn="l">
              <a:lnSpc>
                <a:spcPct val="104000"/>
              </a:lnSpc>
              <a:buNone/>
            </a:pPr>
            <a:r>
              <a:rPr lang="en-US" sz="2600" b="1" dirty="0">
                <a:solidFill>
                  <a:srgbClr val="3257B8"/>
                </a:solidFill>
                <a:latin typeface="Roboto Slab Bold" pitchFamily="34" charset="0"/>
                <a:ea typeface="Roboto Slab Bold" pitchFamily="34" charset="-122"/>
                <a:cs typeface="Roboto Slab Bold" pitchFamily="34" charset="-120"/>
              </a:rPr>
              <a:t>Centralization System</a:t>
            </a:r>
            <a:endParaRPr lang="en-US" sz="2600" dirty="0"/>
          </a:p>
        </p:txBody>
      </p:sp>
      <p:sp>
        <p:nvSpPr>
          <p:cNvPr id="7" name="Text 3"/>
          <p:cNvSpPr/>
          <p:nvPr/>
        </p:nvSpPr>
        <p:spPr>
          <a:xfrm>
            <a:off x="661475" y="5150445"/>
            <a:ext cx="5842251" cy="310158"/>
          </a:xfrm>
          <a:prstGeom prst="rect">
            <a:avLst/>
          </a:prstGeom>
          <a:noFill/>
          <a:ln/>
        </p:spPr>
        <p:txBody>
          <a:bodyPr wrap="none" lIns="0" tIns="0" rIns="0" bIns="0" rtlCol="0" anchor="t"/>
          <a:lstStyle/>
          <a:p>
            <a:pPr marL="0" indent="0" algn="l">
              <a:lnSpc>
                <a:spcPct val="125000"/>
              </a:lnSpc>
              <a:buNone/>
            </a:pPr>
            <a:r>
              <a:rPr lang="en-US" sz="1600" dirty="0">
                <a:solidFill>
                  <a:srgbClr val="15213F"/>
                </a:solidFill>
                <a:latin typeface="Roboto" pitchFamily="34" charset="0"/>
                <a:ea typeface="Roboto" pitchFamily="34" charset="-122"/>
                <a:cs typeface="Roboto" pitchFamily="34" charset="-120"/>
              </a:rPr>
              <a:t>Presented by:</a:t>
            </a:r>
            <a:endParaRPr lang="en-US" sz="1600" dirty="0"/>
          </a:p>
        </p:txBody>
      </p:sp>
      <p:sp>
        <p:nvSpPr>
          <p:cNvPr id="8" name="Text 4"/>
          <p:cNvSpPr/>
          <p:nvPr/>
        </p:nvSpPr>
        <p:spPr>
          <a:xfrm>
            <a:off x="661475" y="5590778"/>
            <a:ext cx="5232666" cy="670917"/>
          </a:xfrm>
          <a:prstGeom prst="rect">
            <a:avLst/>
          </a:prstGeom>
          <a:noFill/>
          <a:ln/>
        </p:spPr>
        <p:txBody>
          <a:bodyPr wrap="square" lIns="0" tIns="0" rIns="0" bIns="0" rtlCol="0" anchor="t">
            <a:normAutofit/>
          </a:bodyPr>
          <a:lstStyle/>
          <a:p>
            <a:pPr marL="264160" indent="-264160" algn="l">
              <a:lnSpc>
                <a:spcPct val="125000"/>
              </a:lnSpc>
              <a:buSzPct val="100000"/>
              <a:buChar char="•"/>
            </a:pPr>
            <a:r>
              <a:rPr lang="en-US" sz="1300" dirty="0">
                <a:solidFill>
                  <a:srgbClr val="15213F"/>
                </a:solidFill>
                <a:latin typeface="Roboto" pitchFamily="34" charset="0"/>
                <a:ea typeface="Roboto" pitchFamily="34" charset="-122"/>
                <a:cs typeface="Roboto" pitchFamily="34" charset="-120"/>
              </a:rPr>
              <a:t>Lior Esterkin</a:t>
            </a:r>
            <a:endParaRPr lang="en-US" sz="1300" dirty="0"/>
          </a:p>
          <a:p>
            <a:pPr marL="264160" indent="-264160" algn="l">
              <a:lnSpc>
                <a:spcPct val="125000"/>
              </a:lnSpc>
              <a:buSzPct val="100000"/>
              <a:buChar char="•"/>
            </a:pPr>
            <a:r>
              <a:rPr lang="en-US" sz="1300" dirty="0">
                <a:solidFill>
                  <a:srgbClr val="15213F"/>
                </a:solidFill>
                <a:latin typeface="Roboto" pitchFamily="34" charset="0"/>
                <a:ea typeface="Roboto" pitchFamily="34" charset="-122"/>
                <a:cs typeface="Roboto" pitchFamily="34" charset="-120"/>
              </a:rPr>
              <a:t>Matan Ben Hamo</a:t>
            </a:r>
            <a:endParaRPr lang="en-US" sz="1300" dirty="0"/>
          </a:p>
        </p:txBody>
      </p:sp>
      <p:sp>
        <p:nvSpPr>
          <p:cNvPr id="9" name="Text 5"/>
          <p:cNvSpPr/>
          <p:nvPr/>
        </p:nvSpPr>
        <p:spPr>
          <a:xfrm>
            <a:off x="6303904" y="5150445"/>
            <a:ext cx="5232666" cy="750491"/>
          </a:xfrm>
          <a:prstGeom prst="rect">
            <a:avLst/>
          </a:prstGeom>
          <a:noFill/>
          <a:ln/>
        </p:spPr>
        <p:txBody>
          <a:bodyPr wrap="square" lIns="0" tIns="0" rIns="0" bIns="0" rtlCol="0" anchor="t"/>
          <a:lstStyle/>
          <a:p>
            <a:pPr marL="0" indent="0" algn="l">
              <a:lnSpc>
                <a:spcPct val="125000"/>
              </a:lnSpc>
              <a:spcAft>
                <a:spcPts val="1000"/>
              </a:spcAft>
              <a:buNone/>
            </a:pPr>
            <a:r>
              <a:rPr lang="en-US" sz="1600" dirty="0">
                <a:solidFill>
                  <a:srgbClr val="15213F"/>
                </a:solidFill>
                <a:latin typeface="Roboto" pitchFamily="34" charset="0"/>
                <a:ea typeface="Roboto" pitchFamily="34" charset="-122"/>
                <a:cs typeface="Roboto" pitchFamily="34" charset="-120"/>
              </a:rPr>
              <a:t>Supervisor:</a:t>
            </a:r>
            <a:endParaRPr lang="en-US" sz="1600" dirty="0"/>
          </a:p>
          <a:p>
            <a:pPr marL="0" indent="0" algn="l">
              <a:lnSpc>
                <a:spcPct val="125000"/>
              </a:lnSpc>
              <a:buNone/>
            </a:pPr>
            <a:r>
              <a:rPr lang="en-US" sz="1600" dirty="0">
                <a:solidFill>
                  <a:srgbClr val="15213F"/>
                </a:solidFill>
                <a:latin typeface="Roboto" pitchFamily="34" charset="0"/>
                <a:ea typeface="Roboto" pitchFamily="34" charset="-122"/>
                <a:cs typeface="Roboto" pitchFamily="34" charset="-120"/>
              </a:rPr>
              <a:t>Dr. Natali Levi-Soskin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384201"/>
            <a:ext cx="7130673" cy="815181"/>
          </a:xfrm>
          <a:prstGeom prst="rect">
            <a:avLst/>
          </a:prstGeom>
          <a:noFill/>
          <a:ln/>
        </p:spPr>
        <p:txBody>
          <a:bodyPr wrap="none" lIns="0" tIns="0" rIns="0" bIns="0" rtlCol="0" anchor="t"/>
          <a:lstStyle/>
          <a:p>
            <a:pPr marL="0" indent="0" algn="l">
              <a:lnSpc>
                <a:spcPct val="104000"/>
              </a:lnSpc>
              <a:buNone/>
            </a:pPr>
            <a:r>
              <a:rPr lang="en-US" sz="5100" b="1" dirty="0">
                <a:solidFill>
                  <a:srgbClr val="3257B8"/>
                </a:solidFill>
                <a:latin typeface="Roboto Slab Bold" pitchFamily="34" charset="0"/>
                <a:ea typeface="Roboto Slab Bold" pitchFamily="34" charset="-122"/>
                <a:cs typeface="Roboto Slab Bold" pitchFamily="34" charset="-120"/>
              </a:rPr>
              <a:t>Motivation</a:t>
            </a:r>
            <a:endParaRPr lang="en-US" sz="5100" dirty="0"/>
          </a:p>
        </p:txBody>
      </p:sp>
      <p:sp>
        <p:nvSpPr>
          <p:cNvPr id="3" name="Text 1"/>
          <p:cNvSpPr/>
          <p:nvPr/>
        </p:nvSpPr>
        <p:spPr>
          <a:xfrm>
            <a:off x="661475" y="2482850"/>
            <a:ext cx="10868745" cy="708819"/>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Why does document in collection accounting offices becomes a critical bottleneck?</a:t>
            </a:r>
            <a:endParaRPr lang="en-US" sz="2200" dirty="0"/>
          </a:p>
        </p:txBody>
      </p:sp>
      <p:sp>
        <p:nvSpPr>
          <p:cNvPr id="4" name="Shape 2"/>
          <p:cNvSpPr/>
          <p:nvPr/>
        </p:nvSpPr>
        <p:spPr>
          <a:xfrm>
            <a:off x="661475" y="3475137"/>
            <a:ext cx="25399" cy="1998464"/>
          </a:xfrm>
          <a:prstGeom prst="roundRect">
            <a:avLst>
              <a:gd name="adj" fmla="val 60001"/>
            </a:avLst>
          </a:prstGeom>
          <a:solidFill>
            <a:srgbClr val="3257B8"/>
          </a:solidFill>
          <a:ln/>
        </p:spPr>
        <p:txBody>
          <a:bodyPr/>
          <a:lstStyle/>
          <a:p>
            <a:endParaRPr lang="he-IL"/>
          </a:p>
        </p:txBody>
      </p:sp>
      <p:sp>
        <p:nvSpPr>
          <p:cNvPr id="5" name="Text 3"/>
          <p:cNvSpPr/>
          <p:nvPr/>
        </p:nvSpPr>
        <p:spPr>
          <a:xfrm>
            <a:off x="944936" y="3687762"/>
            <a:ext cx="10585284" cy="755848"/>
          </a:xfrm>
          <a:prstGeom prst="rect">
            <a:avLst/>
          </a:prstGeom>
          <a:noFill/>
          <a:ln/>
        </p:spPr>
        <p:txBody>
          <a:bodyPr wrap="square" lIns="0" tIns="0" rIns="0" bIns="0" rtlCol="0" anchor="t">
            <a:normAutofit/>
          </a:bodyPr>
          <a:lstStyle/>
          <a:p>
            <a:pPr marL="0" indent="0" algn="l">
              <a:lnSpc>
                <a:spcPct val="133000"/>
              </a:lnSpc>
              <a:buNone/>
            </a:pPr>
            <a:r>
              <a:rPr lang="en-US" sz="1850" dirty="0">
                <a:solidFill>
                  <a:srgbClr val="15213F"/>
                </a:solidFill>
                <a:latin typeface="Roboto" pitchFamily="34" charset="0"/>
                <a:ea typeface="Roboto" pitchFamily="34" charset="-122"/>
                <a:cs typeface="Roboto" pitchFamily="34" charset="-120"/>
              </a:rPr>
              <a:t>"When critical documentation is scattered across informal channels like WhatsApp, it leads to a significant increase in cognitive load and a higher probability of human error."</a:t>
            </a:r>
            <a:endParaRPr lang="en-US" sz="1850" dirty="0"/>
          </a:p>
        </p:txBody>
      </p:sp>
      <p:sp>
        <p:nvSpPr>
          <p:cNvPr id="6" name="Text 4"/>
          <p:cNvSpPr/>
          <p:nvPr/>
        </p:nvSpPr>
        <p:spPr>
          <a:xfrm>
            <a:off x="944936" y="4656237"/>
            <a:ext cx="1058528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Schaupp, M., &amp; Cleary, P. (2023). Information overload research in accounting: a systematic review of the literature. </a:t>
            </a:r>
            <a:r>
              <a:rPr lang="en-US" sz="1450" i="1" dirty="0">
                <a:solidFill>
                  <a:srgbClr val="15213F"/>
                </a:solidFill>
                <a:latin typeface="Roboto" pitchFamily="34" charset="0"/>
                <a:ea typeface="Roboto" pitchFamily="34" charset="-122"/>
                <a:cs typeface="Roboto" pitchFamily="34" charset="-120"/>
              </a:rPr>
              <a:t>Journal of Management Control</a:t>
            </a:r>
            <a:r>
              <a:rPr lang="en-US" sz="1450" dirty="0">
                <a:solidFill>
                  <a:srgbClr val="15213F"/>
                </a:solidFill>
                <a:latin typeface="Roboto" pitchFamily="34" charset="0"/>
                <a:ea typeface="Roboto" pitchFamily="34" charset="-122"/>
                <a:cs typeface="Roboto" pitchFamily="34" charset="-120"/>
              </a:rPr>
              <a:t>, 34(3), 271-309. /</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30673"/>
            <a:ext cx="6493109" cy="815181"/>
          </a:xfrm>
          <a:prstGeom prst="rect">
            <a:avLst/>
          </a:prstGeom>
          <a:noFill/>
          <a:ln/>
        </p:spPr>
        <p:txBody>
          <a:bodyPr wrap="none" lIns="0" tIns="0" rIns="0" bIns="0" rtlCol="0" anchor="t"/>
          <a:lstStyle/>
          <a:p>
            <a:pPr marL="0" indent="0" algn="l">
              <a:lnSpc>
                <a:spcPct val="104000"/>
              </a:lnSpc>
              <a:buNone/>
            </a:pPr>
            <a:r>
              <a:rPr lang="en-US" sz="5100" b="1" dirty="0">
                <a:solidFill>
                  <a:srgbClr val="3257B8"/>
                </a:solidFill>
                <a:latin typeface="Roboto Slab Bold" pitchFamily="34" charset="0"/>
                <a:ea typeface="Roboto Slab Bold" pitchFamily="34" charset="-122"/>
                <a:cs typeface="Roboto Slab Bold" pitchFamily="34" charset="-120"/>
              </a:rPr>
              <a:t>The Client </a:t>
            </a:r>
            <a:endParaRPr lang="en-US" sz="5100" dirty="0"/>
          </a:p>
        </p:txBody>
      </p:sp>
      <p:sp>
        <p:nvSpPr>
          <p:cNvPr id="3" name="Text 1"/>
          <p:cNvSpPr/>
          <p:nvPr/>
        </p:nvSpPr>
        <p:spPr>
          <a:xfrm>
            <a:off x="661475" y="2734866"/>
            <a:ext cx="6175022" cy="354409"/>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Accounting Office: Levi Unger Slilat, CPAs</a:t>
            </a:r>
            <a:endParaRPr lang="en-US" sz="2200" dirty="0"/>
          </a:p>
        </p:txBody>
      </p:sp>
      <p:sp>
        <p:nvSpPr>
          <p:cNvPr id="4" name="Shape 2"/>
          <p:cNvSpPr/>
          <p:nvPr/>
        </p:nvSpPr>
        <p:spPr>
          <a:xfrm>
            <a:off x="661475" y="3349129"/>
            <a:ext cx="5883525" cy="25400"/>
          </a:xfrm>
          <a:prstGeom prst="roundRect">
            <a:avLst>
              <a:gd name="adj" fmla="val 59999"/>
            </a:avLst>
          </a:prstGeom>
          <a:solidFill>
            <a:srgbClr val="15213F">
              <a:alpha val="50000"/>
            </a:srgbClr>
          </a:solidFill>
          <a:ln/>
        </p:spPr>
        <p:txBody>
          <a:bodyPr/>
          <a:lstStyle/>
          <a:p>
            <a:endParaRPr lang="he-IL"/>
          </a:p>
        </p:txBody>
      </p:sp>
      <p:sp>
        <p:nvSpPr>
          <p:cNvPr id="5" name="Text 3"/>
          <p:cNvSpPr/>
          <p:nvPr/>
        </p:nvSpPr>
        <p:spPr>
          <a:xfrm>
            <a:off x="661475" y="3634383"/>
            <a:ext cx="5883525" cy="1511697"/>
          </a:xfrm>
          <a:prstGeom prst="rect">
            <a:avLst/>
          </a:prstGeom>
          <a:noFill/>
          <a:ln/>
        </p:spPr>
        <p:txBody>
          <a:bodyPr wrap="square" lIns="0" tIns="0" rIns="0" bIns="0" rtlCol="0" anchor="t">
            <a:normAutofit/>
          </a:bodyPr>
          <a:lstStyle/>
          <a:p>
            <a:pPr marL="0" indent="0" algn="l">
              <a:lnSpc>
                <a:spcPct val="133000"/>
              </a:lnSpc>
              <a:buNone/>
            </a:pPr>
            <a:r>
              <a:rPr lang="en-US" sz="1850" dirty="0">
                <a:solidFill>
                  <a:srgbClr val="15213F"/>
                </a:solidFill>
                <a:latin typeface="Roboto" pitchFamily="34" charset="0"/>
                <a:ea typeface="Roboto" pitchFamily="34" charset="-122"/>
                <a:cs typeface="Roboto" pitchFamily="34" charset="-120"/>
              </a:rPr>
              <a:t>Levi Unger Slilat is a boutique accounting firm based in Haifa, Israel.</a:t>
            </a:r>
            <a:endParaRPr lang="en-US" sz="1850" dirty="0"/>
          </a:p>
          <a:p>
            <a:pPr marL="0" indent="0" algn="l">
              <a:lnSpc>
                <a:spcPct val="133000"/>
              </a:lnSpc>
              <a:buNone/>
            </a:pPr>
            <a:r>
              <a:rPr lang="en-US" sz="1850" dirty="0">
                <a:solidFill>
                  <a:srgbClr val="15213F"/>
                </a:solidFill>
                <a:latin typeface="Roboto" pitchFamily="34" charset="0"/>
                <a:ea typeface="Roboto" pitchFamily="34" charset="-122"/>
                <a:cs typeface="Roboto" pitchFamily="34" charset="-120"/>
              </a:rPr>
              <a:t>The firm provides accounting, tax, auditing, and business consulting services.</a:t>
            </a:r>
            <a:endParaRPr lang="en-US" sz="1850" dirty="0"/>
          </a:p>
        </p:txBody>
      </p:sp>
      <p:pic>
        <p:nvPicPr>
          <p:cNvPr id="6" name="Image 0" descr="preencoded.png"/>
          <p:cNvPicPr>
            <a:picLocks noChangeAspect="1"/>
          </p:cNvPicPr>
          <p:nvPr/>
        </p:nvPicPr>
        <p:blipFill>
          <a:blip r:embed="rId3"/>
          <a:stretch>
            <a:fillRect/>
          </a:stretch>
        </p:blipFill>
        <p:spPr>
          <a:xfrm>
            <a:off x="7012507" y="1701701"/>
            <a:ext cx="4523964" cy="34544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9807"/>
            <a:ext cx="8261639"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Roboto Slab Bold" pitchFamily="34" charset="0"/>
                <a:ea typeface="Roboto Slab Bold" pitchFamily="34" charset="-122"/>
                <a:cs typeface="Roboto Slab Bold" pitchFamily="34" charset="-120"/>
              </a:rPr>
              <a:t>Working with a Real-World Client</a:t>
            </a:r>
            <a:endParaRPr lang="en-US" sz="3700" dirty="0"/>
          </a:p>
        </p:txBody>
      </p:sp>
      <p:pic>
        <p:nvPicPr>
          <p:cNvPr id="3" name="Image 0" descr="preencoded.png"/>
          <p:cNvPicPr>
            <a:picLocks noChangeAspect="1"/>
          </p:cNvPicPr>
          <p:nvPr/>
        </p:nvPicPr>
        <p:blipFill>
          <a:blip r:embed="rId3"/>
          <a:stretch>
            <a:fillRect/>
          </a:stretch>
        </p:blipFill>
        <p:spPr>
          <a:xfrm>
            <a:off x="661475" y="1488480"/>
            <a:ext cx="3622882" cy="756047"/>
          </a:xfrm>
          <a:prstGeom prst="rect">
            <a:avLst/>
          </a:prstGeom>
        </p:spPr>
      </p:pic>
      <p:sp>
        <p:nvSpPr>
          <p:cNvPr id="4" name="Text 1"/>
          <p:cNvSpPr/>
          <p:nvPr/>
        </p:nvSpPr>
        <p:spPr>
          <a:xfrm>
            <a:off x="850482" y="2433538"/>
            <a:ext cx="2362637"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Client Introduction</a:t>
            </a:r>
            <a:endParaRPr lang="en-US" sz="1850" dirty="0"/>
          </a:p>
        </p:txBody>
      </p:sp>
      <p:sp>
        <p:nvSpPr>
          <p:cNvPr id="5" name="Text 2"/>
          <p:cNvSpPr/>
          <p:nvPr/>
        </p:nvSpPr>
        <p:spPr>
          <a:xfrm>
            <a:off x="850482" y="2842220"/>
            <a:ext cx="3244868"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Partnered with an active accounting firm to examine and analyze their manual file collection workflows.</a:t>
            </a:r>
            <a:endParaRPr lang="en-US" sz="1450" dirty="0"/>
          </a:p>
        </p:txBody>
      </p:sp>
      <p:pic>
        <p:nvPicPr>
          <p:cNvPr id="6" name="Image 1" descr="preencoded.png"/>
          <p:cNvPicPr>
            <a:picLocks noChangeAspect="1"/>
          </p:cNvPicPr>
          <p:nvPr/>
        </p:nvPicPr>
        <p:blipFill>
          <a:blip r:embed="rId4"/>
          <a:stretch>
            <a:fillRect/>
          </a:stretch>
        </p:blipFill>
        <p:spPr>
          <a:xfrm>
            <a:off x="4284357" y="1488480"/>
            <a:ext cx="3622882" cy="756047"/>
          </a:xfrm>
          <a:prstGeom prst="rect">
            <a:avLst/>
          </a:prstGeom>
        </p:spPr>
      </p:pic>
      <p:sp>
        <p:nvSpPr>
          <p:cNvPr id="7" name="Text 3"/>
          <p:cNvSpPr/>
          <p:nvPr/>
        </p:nvSpPr>
        <p:spPr>
          <a:xfrm>
            <a:off x="4473364" y="2433538"/>
            <a:ext cx="2362637"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In-Depth Interview</a:t>
            </a:r>
            <a:endParaRPr lang="en-US" sz="1850" dirty="0"/>
          </a:p>
        </p:txBody>
      </p:sp>
      <p:sp>
        <p:nvSpPr>
          <p:cNvPr id="8" name="Text 4"/>
          <p:cNvSpPr/>
          <p:nvPr/>
        </p:nvSpPr>
        <p:spPr>
          <a:xfrm>
            <a:off x="4473364" y="2842220"/>
            <a:ext cx="3244868" cy="1625501"/>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1450" dirty="0">
                <a:solidFill>
                  <a:srgbClr val="15213F"/>
                </a:solidFill>
                <a:latin typeface="Roboto" pitchFamily="34" charset="0"/>
                <a:ea typeface="Roboto" pitchFamily="34" charset="-122"/>
                <a:cs typeface="Roboto" pitchFamily="34" charset="-120"/>
              </a:rPr>
              <a:t>Conducted a structured session with the lead accountant to locate operational bottlenecks.</a:t>
            </a:r>
            <a:endParaRPr lang="en-US" sz="1450" dirty="0"/>
          </a:p>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"Collecting documents manually from WhatsApp is our biggest bottleneck."</a:t>
            </a:r>
            <a:endParaRPr lang="en-US" sz="1450" dirty="0"/>
          </a:p>
        </p:txBody>
      </p:sp>
      <p:pic>
        <p:nvPicPr>
          <p:cNvPr id="9" name="Image 2" descr="preencoded.png"/>
          <p:cNvPicPr>
            <a:picLocks noChangeAspect="1"/>
          </p:cNvPicPr>
          <p:nvPr/>
        </p:nvPicPr>
        <p:blipFill>
          <a:blip r:embed="rId5"/>
          <a:stretch>
            <a:fillRect/>
          </a:stretch>
        </p:blipFill>
        <p:spPr>
          <a:xfrm>
            <a:off x="7907239" y="1488480"/>
            <a:ext cx="3622882" cy="756047"/>
          </a:xfrm>
          <a:prstGeom prst="rect">
            <a:avLst/>
          </a:prstGeom>
        </p:spPr>
      </p:pic>
      <p:sp>
        <p:nvSpPr>
          <p:cNvPr id="10" name="Text 5"/>
          <p:cNvSpPr/>
          <p:nvPr/>
        </p:nvSpPr>
        <p:spPr>
          <a:xfrm>
            <a:off x="8096246" y="2433538"/>
            <a:ext cx="2720113"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Requirements Gathering</a:t>
            </a:r>
            <a:endParaRPr lang="en-US" sz="1850" dirty="0"/>
          </a:p>
        </p:txBody>
      </p:sp>
      <p:sp>
        <p:nvSpPr>
          <p:cNvPr id="11" name="Text 6"/>
          <p:cNvSpPr/>
          <p:nvPr/>
        </p:nvSpPr>
        <p:spPr>
          <a:xfrm>
            <a:off x="8096246" y="2842220"/>
            <a:ext cx="3244868"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Translated actual operational pain points into core, actionable system specifications and features.</a:t>
            </a:r>
            <a:endParaRPr lang="en-US" sz="1450" dirty="0"/>
          </a:p>
        </p:txBody>
      </p:sp>
      <p:sp>
        <p:nvSpPr>
          <p:cNvPr id="12" name="Shape 7"/>
          <p:cNvSpPr/>
          <p:nvPr/>
        </p:nvSpPr>
        <p:spPr>
          <a:xfrm>
            <a:off x="661475" y="4869359"/>
            <a:ext cx="10868745" cy="1470323"/>
          </a:xfrm>
          <a:prstGeom prst="roundRect">
            <a:avLst>
              <a:gd name="adj" fmla="val 1928"/>
            </a:avLst>
          </a:prstGeom>
          <a:solidFill>
            <a:srgbClr val="B6D6FC"/>
          </a:solidFill>
          <a:ln/>
        </p:spPr>
        <p:txBody>
          <a:bodyPr/>
          <a:lstStyle/>
          <a:p>
            <a:endParaRPr lang="he-IL"/>
          </a:p>
        </p:txBody>
      </p:sp>
      <p:pic>
        <p:nvPicPr>
          <p:cNvPr id="13" name="Image 3" descr="preencoded.png"/>
          <p:cNvPicPr>
            <a:picLocks noChangeAspect="1"/>
          </p:cNvPicPr>
          <p:nvPr/>
        </p:nvPicPr>
        <p:blipFill>
          <a:blip r:embed="rId6"/>
          <a:stretch>
            <a:fillRect/>
          </a:stretch>
        </p:blipFill>
        <p:spPr>
          <a:xfrm>
            <a:off x="850482" y="5137051"/>
            <a:ext cx="236234" cy="189012"/>
          </a:xfrm>
          <a:prstGeom prst="rect">
            <a:avLst/>
          </a:prstGeom>
        </p:spPr>
      </p:pic>
      <p:sp>
        <p:nvSpPr>
          <p:cNvPr id="14" name="Text 8"/>
          <p:cNvSpPr/>
          <p:nvPr/>
        </p:nvSpPr>
        <p:spPr>
          <a:xfrm>
            <a:off x="1275723" y="5105598"/>
            <a:ext cx="10065490"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000000"/>
                </a:solidFill>
                <a:latin typeface="Roboto Bold" pitchFamily="34" charset="0"/>
                <a:ea typeface="Roboto Bold" pitchFamily="34" charset="-122"/>
                <a:cs typeface="Roboto Bold" pitchFamily="34" charset="-120"/>
              </a:rPr>
              <a:t>69% of accounting professionals spend too much time collecting client documents, while 79% waste time locating files and 58% report losing important client information.</a:t>
            </a:r>
            <a:endParaRPr lang="en-US" sz="1450" dirty="0"/>
          </a:p>
        </p:txBody>
      </p:sp>
      <p:sp>
        <p:nvSpPr>
          <p:cNvPr id="15" name="Text 9"/>
          <p:cNvSpPr/>
          <p:nvPr/>
        </p:nvSpPr>
        <p:spPr>
          <a:xfrm>
            <a:off x="1275723" y="5880497"/>
            <a:ext cx="10675075" cy="241895"/>
          </a:xfrm>
          <a:prstGeom prst="rect">
            <a:avLst/>
          </a:prstGeom>
          <a:noFill/>
          <a:ln/>
        </p:spPr>
        <p:txBody>
          <a:bodyPr wrap="none" lIns="0" tIns="0" rIns="0" bIns="0" rtlCol="0" anchor="t"/>
          <a:lstStyle/>
          <a:p>
            <a:pPr marL="0" indent="0" algn="l">
              <a:lnSpc>
                <a:spcPct val="133000"/>
              </a:lnSpc>
              <a:buNone/>
            </a:pPr>
            <a:r>
              <a:rPr lang="en-US" sz="1150" dirty="0">
                <a:solidFill>
                  <a:srgbClr val="000000"/>
                </a:solidFill>
                <a:latin typeface="Roboto" pitchFamily="34" charset="0"/>
                <a:ea typeface="Roboto" pitchFamily="34" charset="-122"/>
                <a:cs typeface="Roboto" pitchFamily="34" charset="-120"/>
              </a:rPr>
              <a:t>Financial Cents. (2025). </a:t>
            </a:r>
            <a:r>
              <a:rPr lang="en-US" sz="1150" i="1" dirty="0">
                <a:solidFill>
                  <a:srgbClr val="000000"/>
                </a:solidFill>
                <a:latin typeface="Roboto" pitchFamily="34" charset="0"/>
                <a:ea typeface="Roboto" pitchFamily="34" charset="-122"/>
                <a:cs typeface="Roboto" pitchFamily="34" charset="-120"/>
              </a:rPr>
              <a:t>The State of Accounting Workflow &amp; Automation Report</a:t>
            </a:r>
            <a:r>
              <a:rPr lang="en-US" sz="1150" dirty="0">
                <a:solidFill>
                  <a:srgbClr val="000000"/>
                </a:solidFill>
                <a:latin typeface="Roboto" pitchFamily="34" charset="0"/>
                <a:ea typeface="Roboto" pitchFamily="34" charset="-122"/>
                <a:cs typeface="Roboto" pitchFamily="34" charset="-120"/>
              </a:rPr>
              <a: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79239"/>
            <a:ext cx="5261141" cy="581422"/>
          </a:xfrm>
          <a:prstGeom prst="rect">
            <a:avLst/>
          </a:prstGeom>
          <a:noFill/>
          <a:ln/>
        </p:spPr>
        <p:txBody>
          <a:bodyPr wrap="none" lIns="0" tIns="0" rIns="0" bIns="0" rtlCol="0" anchor="t"/>
          <a:lstStyle/>
          <a:p>
            <a:pPr marL="0" indent="0" algn="l">
              <a:lnSpc>
                <a:spcPct val="104000"/>
              </a:lnSpc>
              <a:buNone/>
            </a:pPr>
            <a:r>
              <a:rPr lang="en-US" sz="3650" b="1" dirty="0">
                <a:solidFill>
                  <a:srgbClr val="3257B8"/>
                </a:solidFill>
                <a:latin typeface="Roboto Slab Bold" pitchFamily="34" charset="0"/>
                <a:ea typeface="Roboto Slab Bold" pitchFamily="34" charset="-122"/>
                <a:cs typeface="Roboto Slab Bold" pitchFamily="34" charset="-120"/>
              </a:rPr>
              <a:t>The Core Problem </a:t>
            </a:r>
            <a:endParaRPr lang="en-US" sz="3650" dirty="0"/>
          </a:p>
        </p:txBody>
      </p:sp>
      <p:sp>
        <p:nvSpPr>
          <p:cNvPr id="3" name="Text 1"/>
          <p:cNvSpPr/>
          <p:nvPr/>
        </p:nvSpPr>
        <p:spPr>
          <a:xfrm>
            <a:off x="661475" y="1233884"/>
            <a:ext cx="11430805" cy="348853"/>
          </a:xfrm>
          <a:prstGeom prst="rect">
            <a:avLst/>
          </a:prstGeom>
          <a:noFill/>
          <a:ln/>
        </p:spPr>
        <p:txBody>
          <a:bodyPr wrap="none" lIns="0" tIns="0" rIns="0" bIns="0" rtlCol="0" anchor="t"/>
          <a:lstStyle/>
          <a:p>
            <a:pPr marL="0" indent="0" algn="l">
              <a:lnSpc>
                <a:spcPct val="104000"/>
              </a:lnSpc>
              <a:buNone/>
            </a:pPr>
            <a:r>
              <a:rPr lang="en-US" sz="2150" dirty="0">
                <a:solidFill>
                  <a:srgbClr val="3257B8"/>
                </a:solidFill>
                <a:latin typeface="Roboto Slab" pitchFamily="34" charset="0"/>
                <a:ea typeface="Roboto Slab" pitchFamily="34" charset="-122"/>
                <a:cs typeface="Roboto Slab" pitchFamily="34" charset="-120"/>
              </a:rPr>
              <a:t>Accounting firms lack a centralized and controlled document submission process.</a:t>
            </a:r>
            <a:endParaRPr lang="en-US" sz="2150" dirty="0"/>
          </a:p>
        </p:txBody>
      </p:sp>
      <p:sp>
        <p:nvSpPr>
          <p:cNvPr id="4" name="Shape 2"/>
          <p:cNvSpPr/>
          <p:nvPr/>
        </p:nvSpPr>
        <p:spPr>
          <a:xfrm>
            <a:off x="661475" y="1903909"/>
            <a:ext cx="10868745" cy="25400"/>
          </a:xfrm>
          <a:prstGeom prst="roundRect">
            <a:avLst>
              <a:gd name="adj" fmla="val 59999"/>
            </a:avLst>
          </a:prstGeom>
          <a:solidFill>
            <a:srgbClr val="15213F">
              <a:alpha val="50000"/>
            </a:srgbClr>
          </a:solidFill>
          <a:ln/>
        </p:spPr>
        <p:txBody>
          <a:bodyPr/>
          <a:lstStyle/>
          <a:p>
            <a:endParaRPr lang="he-IL"/>
          </a:p>
        </p:txBody>
      </p:sp>
      <p:sp>
        <p:nvSpPr>
          <p:cNvPr id="5" name="Shape 3"/>
          <p:cNvSpPr/>
          <p:nvPr/>
        </p:nvSpPr>
        <p:spPr>
          <a:xfrm>
            <a:off x="661475" y="2181721"/>
            <a:ext cx="3500747" cy="2104529"/>
          </a:xfrm>
          <a:prstGeom prst="roundRect">
            <a:avLst>
              <a:gd name="adj" fmla="val 1326"/>
            </a:avLst>
          </a:prstGeom>
          <a:solidFill>
            <a:srgbClr val="E9ECF2"/>
          </a:solidFill>
          <a:ln/>
        </p:spPr>
        <p:txBody>
          <a:bodyPr/>
          <a:lstStyle/>
          <a:p>
            <a:endParaRPr lang="he-IL"/>
          </a:p>
        </p:txBody>
      </p:sp>
      <p:sp>
        <p:nvSpPr>
          <p:cNvPr id="6" name="Shape 4"/>
          <p:cNvSpPr/>
          <p:nvPr/>
        </p:nvSpPr>
        <p:spPr>
          <a:xfrm>
            <a:off x="2132753" y="2367756"/>
            <a:ext cx="558191" cy="558205"/>
          </a:xfrm>
          <a:prstGeom prst="ellipse">
            <a:avLst/>
          </a:prstGeom>
          <a:solidFill>
            <a:srgbClr val="476FD6"/>
          </a:solidFill>
          <a:ln/>
        </p:spPr>
        <p:txBody>
          <a:bodyPr/>
          <a:lstStyle/>
          <a:p>
            <a:endParaRPr lang="he-IL"/>
          </a:p>
        </p:txBody>
      </p:sp>
      <p:sp>
        <p:nvSpPr>
          <p:cNvPr id="7" name="Text 5"/>
          <p:cNvSpPr/>
          <p:nvPr/>
        </p:nvSpPr>
        <p:spPr>
          <a:xfrm>
            <a:off x="2286240" y="2489895"/>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FFFFFF"/>
                </a:solidFill>
                <a:latin typeface="Roboto Slab" pitchFamily="34" charset="0"/>
                <a:ea typeface="Roboto Slab" pitchFamily="34" charset="-122"/>
                <a:cs typeface="Roboto Slab" pitchFamily="34" charset="-120"/>
              </a:rPr>
              <a:t>1</a:t>
            </a:r>
            <a:endParaRPr lang="en-US" sz="1950" dirty="0"/>
          </a:p>
        </p:txBody>
      </p:sp>
      <p:sp>
        <p:nvSpPr>
          <p:cNvPr id="8" name="Text 6"/>
          <p:cNvSpPr/>
          <p:nvPr/>
        </p:nvSpPr>
        <p:spPr>
          <a:xfrm>
            <a:off x="1221551" y="3109119"/>
            <a:ext cx="2380496" cy="290711"/>
          </a:xfrm>
          <a:prstGeom prst="rect">
            <a:avLst/>
          </a:prstGeom>
          <a:noFill/>
          <a:ln/>
        </p:spPr>
        <p:txBody>
          <a:bodyPr wrap="none" lIns="0" tIns="0" rIns="0" bIns="0" rtlCol="0" anchor="t"/>
          <a:lstStyle/>
          <a:p>
            <a:pPr marL="0" indent="0" algn="ctr">
              <a:lnSpc>
                <a:spcPct val="104000"/>
              </a:lnSpc>
              <a:buNone/>
            </a:pPr>
            <a:r>
              <a:rPr lang="en-US" sz="1800" dirty="0">
                <a:solidFill>
                  <a:srgbClr val="15213F"/>
                </a:solidFill>
                <a:latin typeface="Roboto Slab" pitchFamily="34" charset="0"/>
                <a:ea typeface="Roboto Slab" pitchFamily="34" charset="-122"/>
                <a:cs typeface="Roboto Slab" pitchFamily="34" charset="-120"/>
              </a:rPr>
              <a:t>Scattered Submission</a:t>
            </a:r>
            <a:endParaRPr lang="en-US" sz="1800" dirty="0"/>
          </a:p>
        </p:txBody>
      </p:sp>
      <p:sp>
        <p:nvSpPr>
          <p:cNvPr id="9" name="Text 7"/>
          <p:cNvSpPr/>
          <p:nvPr/>
        </p:nvSpPr>
        <p:spPr>
          <a:xfrm>
            <a:off x="847505" y="3509665"/>
            <a:ext cx="3128686" cy="590550"/>
          </a:xfrm>
          <a:prstGeom prst="rect">
            <a:avLst/>
          </a:prstGeom>
          <a:noFill/>
          <a:ln/>
        </p:spPr>
        <p:txBody>
          <a:bodyPr wrap="square" lIns="0" tIns="0" rIns="0" bIns="0" rtlCol="0" anchor="t">
            <a:normAutofit/>
          </a:bodyPr>
          <a:lstStyle/>
          <a:p>
            <a:pPr marL="0" indent="0" algn="ctr">
              <a:lnSpc>
                <a:spcPct val="132000"/>
              </a:lnSpc>
              <a:buNone/>
            </a:pPr>
            <a:r>
              <a:rPr lang="en-US" sz="1450" dirty="0">
                <a:solidFill>
                  <a:srgbClr val="15213F"/>
                </a:solidFill>
                <a:latin typeface="Roboto" pitchFamily="34" charset="0"/>
                <a:ea typeface="Roboto" pitchFamily="34" charset="-122"/>
                <a:cs typeface="Roboto" pitchFamily="34" charset="-120"/>
              </a:rPr>
              <a:t>Documents arrive from different channels and formats</a:t>
            </a:r>
            <a:endParaRPr lang="en-US" sz="1450" dirty="0"/>
          </a:p>
        </p:txBody>
      </p:sp>
      <p:sp>
        <p:nvSpPr>
          <p:cNvPr id="10" name="Shape 8"/>
          <p:cNvSpPr/>
          <p:nvPr/>
        </p:nvSpPr>
        <p:spPr>
          <a:xfrm>
            <a:off x="4345375" y="2181721"/>
            <a:ext cx="3500846" cy="2104529"/>
          </a:xfrm>
          <a:prstGeom prst="roundRect">
            <a:avLst>
              <a:gd name="adj" fmla="val 1326"/>
            </a:avLst>
          </a:prstGeom>
          <a:solidFill>
            <a:srgbClr val="E9ECF2"/>
          </a:solidFill>
          <a:ln/>
        </p:spPr>
        <p:txBody>
          <a:bodyPr/>
          <a:lstStyle/>
          <a:p>
            <a:endParaRPr lang="he-IL"/>
          </a:p>
        </p:txBody>
      </p:sp>
      <p:sp>
        <p:nvSpPr>
          <p:cNvPr id="11" name="Shape 9"/>
          <p:cNvSpPr/>
          <p:nvPr/>
        </p:nvSpPr>
        <p:spPr>
          <a:xfrm>
            <a:off x="5816653" y="2367756"/>
            <a:ext cx="558191" cy="558205"/>
          </a:xfrm>
          <a:prstGeom prst="ellipse">
            <a:avLst/>
          </a:prstGeom>
          <a:solidFill>
            <a:srgbClr val="476FD6"/>
          </a:solidFill>
          <a:ln/>
        </p:spPr>
        <p:txBody>
          <a:bodyPr/>
          <a:lstStyle/>
          <a:p>
            <a:endParaRPr lang="he-IL"/>
          </a:p>
        </p:txBody>
      </p:sp>
      <p:sp>
        <p:nvSpPr>
          <p:cNvPr id="12" name="Text 10"/>
          <p:cNvSpPr/>
          <p:nvPr/>
        </p:nvSpPr>
        <p:spPr>
          <a:xfrm>
            <a:off x="5970140" y="2489895"/>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FFFFFF"/>
                </a:solidFill>
                <a:latin typeface="Roboto Slab" pitchFamily="34" charset="0"/>
                <a:ea typeface="Roboto Slab" pitchFamily="34" charset="-122"/>
                <a:cs typeface="Roboto Slab" pitchFamily="34" charset="-120"/>
              </a:rPr>
              <a:t>2</a:t>
            </a:r>
            <a:endParaRPr lang="en-US" sz="1950" dirty="0"/>
          </a:p>
        </p:txBody>
      </p:sp>
      <p:sp>
        <p:nvSpPr>
          <p:cNvPr id="13" name="Text 11"/>
          <p:cNvSpPr/>
          <p:nvPr/>
        </p:nvSpPr>
        <p:spPr>
          <a:xfrm>
            <a:off x="4932934" y="3109119"/>
            <a:ext cx="2325729" cy="290711"/>
          </a:xfrm>
          <a:prstGeom prst="rect">
            <a:avLst/>
          </a:prstGeom>
          <a:noFill/>
          <a:ln/>
        </p:spPr>
        <p:txBody>
          <a:bodyPr wrap="none" lIns="0" tIns="0" rIns="0" bIns="0" rtlCol="0" anchor="t"/>
          <a:lstStyle/>
          <a:p>
            <a:pPr marL="0" indent="0" algn="ctr">
              <a:lnSpc>
                <a:spcPct val="104000"/>
              </a:lnSpc>
              <a:buNone/>
            </a:pPr>
            <a:r>
              <a:rPr lang="en-US" sz="1800" dirty="0">
                <a:solidFill>
                  <a:srgbClr val="15213F"/>
                </a:solidFill>
                <a:latin typeface="Roboto Slab" pitchFamily="34" charset="0"/>
                <a:ea typeface="Roboto Slab" pitchFamily="34" charset="-122"/>
                <a:cs typeface="Roboto Slab" pitchFamily="34" charset="-120"/>
              </a:rPr>
              <a:t>Manual Workload</a:t>
            </a:r>
            <a:endParaRPr lang="en-US" sz="1800" dirty="0"/>
          </a:p>
        </p:txBody>
      </p:sp>
      <p:sp>
        <p:nvSpPr>
          <p:cNvPr id="14" name="Text 12"/>
          <p:cNvSpPr/>
          <p:nvPr/>
        </p:nvSpPr>
        <p:spPr>
          <a:xfrm>
            <a:off x="4531405" y="3509665"/>
            <a:ext cx="3128785" cy="590550"/>
          </a:xfrm>
          <a:prstGeom prst="rect">
            <a:avLst/>
          </a:prstGeom>
          <a:noFill/>
          <a:ln/>
        </p:spPr>
        <p:txBody>
          <a:bodyPr wrap="square" lIns="0" tIns="0" rIns="0" bIns="0" rtlCol="0" anchor="t">
            <a:normAutofit/>
          </a:bodyPr>
          <a:lstStyle/>
          <a:p>
            <a:pPr marL="0" indent="0" algn="ctr">
              <a:lnSpc>
                <a:spcPct val="132000"/>
              </a:lnSpc>
              <a:buNone/>
            </a:pPr>
            <a:r>
              <a:rPr lang="en-US" sz="1450" dirty="0">
                <a:solidFill>
                  <a:srgbClr val="15213F"/>
                </a:solidFill>
                <a:latin typeface="Roboto" pitchFamily="34" charset="0"/>
                <a:ea typeface="Roboto" pitchFamily="34" charset="-122"/>
                <a:cs typeface="Roboto" pitchFamily="34" charset="-120"/>
              </a:rPr>
              <a:t>Accountants manually sort, check, and follow up</a:t>
            </a:r>
            <a:endParaRPr lang="en-US" sz="1450" dirty="0"/>
          </a:p>
        </p:txBody>
      </p:sp>
      <p:sp>
        <p:nvSpPr>
          <p:cNvPr id="15" name="Shape 13"/>
          <p:cNvSpPr/>
          <p:nvPr/>
        </p:nvSpPr>
        <p:spPr>
          <a:xfrm>
            <a:off x="8029374" y="2181721"/>
            <a:ext cx="3500747" cy="2104529"/>
          </a:xfrm>
          <a:prstGeom prst="roundRect">
            <a:avLst>
              <a:gd name="adj" fmla="val 1326"/>
            </a:avLst>
          </a:prstGeom>
          <a:solidFill>
            <a:srgbClr val="E9ECF2"/>
          </a:solidFill>
          <a:ln/>
        </p:spPr>
        <p:txBody>
          <a:bodyPr/>
          <a:lstStyle/>
          <a:p>
            <a:endParaRPr lang="he-IL"/>
          </a:p>
        </p:txBody>
      </p:sp>
      <p:sp>
        <p:nvSpPr>
          <p:cNvPr id="16" name="Shape 14"/>
          <p:cNvSpPr/>
          <p:nvPr/>
        </p:nvSpPr>
        <p:spPr>
          <a:xfrm>
            <a:off x="9500652" y="2367756"/>
            <a:ext cx="558191" cy="558205"/>
          </a:xfrm>
          <a:prstGeom prst="ellipse">
            <a:avLst/>
          </a:prstGeom>
          <a:solidFill>
            <a:srgbClr val="476FD6"/>
          </a:solidFill>
          <a:ln/>
        </p:spPr>
        <p:txBody>
          <a:bodyPr/>
          <a:lstStyle/>
          <a:p>
            <a:endParaRPr lang="he-IL"/>
          </a:p>
        </p:txBody>
      </p:sp>
      <p:sp>
        <p:nvSpPr>
          <p:cNvPr id="17" name="Text 15"/>
          <p:cNvSpPr/>
          <p:nvPr/>
        </p:nvSpPr>
        <p:spPr>
          <a:xfrm>
            <a:off x="9654140" y="2489895"/>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FFFFFF"/>
                </a:solidFill>
                <a:latin typeface="Roboto Slab" pitchFamily="34" charset="0"/>
                <a:ea typeface="Roboto Slab" pitchFamily="34" charset="-122"/>
                <a:cs typeface="Roboto Slab" pitchFamily="34" charset="-120"/>
              </a:rPr>
              <a:t>3</a:t>
            </a:r>
            <a:endParaRPr lang="en-US" sz="1950" dirty="0"/>
          </a:p>
        </p:txBody>
      </p:sp>
      <p:sp>
        <p:nvSpPr>
          <p:cNvPr id="18" name="Text 16"/>
          <p:cNvSpPr/>
          <p:nvPr/>
        </p:nvSpPr>
        <p:spPr>
          <a:xfrm>
            <a:off x="8616834" y="3109119"/>
            <a:ext cx="2325729" cy="290711"/>
          </a:xfrm>
          <a:prstGeom prst="rect">
            <a:avLst/>
          </a:prstGeom>
          <a:noFill/>
          <a:ln/>
        </p:spPr>
        <p:txBody>
          <a:bodyPr wrap="none" lIns="0" tIns="0" rIns="0" bIns="0" rtlCol="0" anchor="t"/>
          <a:lstStyle/>
          <a:p>
            <a:pPr marL="0" indent="0" algn="ctr">
              <a:lnSpc>
                <a:spcPct val="104000"/>
              </a:lnSpc>
              <a:buNone/>
            </a:pPr>
            <a:r>
              <a:rPr lang="en-US" sz="1800" dirty="0">
                <a:solidFill>
                  <a:srgbClr val="15213F"/>
                </a:solidFill>
                <a:latin typeface="Roboto Slab" pitchFamily="34" charset="0"/>
                <a:ea typeface="Roboto Slab" pitchFamily="34" charset="-122"/>
                <a:cs typeface="Roboto Slab" pitchFamily="34" charset="-120"/>
              </a:rPr>
              <a:t>Tracking Issues</a:t>
            </a:r>
            <a:endParaRPr lang="en-US" sz="1800" dirty="0"/>
          </a:p>
        </p:txBody>
      </p:sp>
      <p:sp>
        <p:nvSpPr>
          <p:cNvPr id="19" name="Text 17"/>
          <p:cNvSpPr/>
          <p:nvPr/>
        </p:nvSpPr>
        <p:spPr>
          <a:xfrm>
            <a:off x="8215405" y="3509665"/>
            <a:ext cx="3128686" cy="590550"/>
          </a:xfrm>
          <a:prstGeom prst="rect">
            <a:avLst/>
          </a:prstGeom>
          <a:noFill/>
          <a:ln/>
        </p:spPr>
        <p:txBody>
          <a:bodyPr wrap="square" lIns="0" tIns="0" rIns="0" bIns="0" rtlCol="0" anchor="t">
            <a:normAutofit/>
          </a:bodyPr>
          <a:lstStyle/>
          <a:p>
            <a:pPr marL="0" indent="0" algn="ctr">
              <a:lnSpc>
                <a:spcPct val="132000"/>
              </a:lnSpc>
              <a:buNone/>
            </a:pPr>
            <a:r>
              <a:rPr lang="en-US" sz="1450" dirty="0">
                <a:solidFill>
                  <a:srgbClr val="15213F"/>
                </a:solidFill>
                <a:latin typeface="Roboto" pitchFamily="34" charset="0"/>
                <a:ea typeface="Roboto" pitchFamily="34" charset="-122"/>
                <a:cs typeface="Roboto" pitchFamily="34" charset="-120"/>
              </a:rPr>
              <a:t>Missing or duplicate files are hard to detect</a:t>
            </a:r>
            <a:endParaRPr lang="en-US" sz="1450" dirty="0"/>
          </a:p>
        </p:txBody>
      </p:sp>
      <p:sp>
        <p:nvSpPr>
          <p:cNvPr id="20" name="Shape 18"/>
          <p:cNvSpPr/>
          <p:nvPr/>
        </p:nvSpPr>
        <p:spPr>
          <a:xfrm>
            <a:off x="661475" y="4469408"/>
            <a:ext cx="10868646" cy="1809254"/>
          </a:xfrm>
          <a:prstGeom prst="roundRect">
            <a:avLst>
              <a:gd name="adj" fmla="val 1543"/>
            </a:avLst>
          </a:prstGeom>
          <a:solidFill>
            <a:srgbClr val="E9ECF2"/>
          </a:solidFill>
          <a:ln/>
        </p:spPr>
        <p:txBody>
          <a:bodyPr/>
          <a:lstStyle/>
          <a:p>
            <a:endParaRPr lang="he-IL"/>
          </a:p>
        </p:txBody>
      </p:sp>
      <p:sp>
        <p:nvSpPr>
          <p:cNvPr id="21" name="Shape 19"/>
          <p:cNvSpPr/>
          <p:nvPr/>
        </p:nvSpPr>
        <p:spPr>
          <a:xfrm>
            <a:off x="5816653" y="4655443"/>
            <a:ext cx="558191" cy="558205"/>
          </a:xfrm>
          <a:prstGeom prst="ellipse">
            <a:avLst/>
          </a:prstGeom>
          <a:solidFill>
            <a:srgbClr val="476FD6"/>
          </a:solidFill>
          <a:ln/>
        </p:spPr>
        <p:txBody>
          <a:bodyPr/>
          <a:lstStyle/>
          <a:p>
            <a:endParaRPr lang="he-IL"/>
          </a:p>
        </p:txBody>
      </p:sp>
      <p:sp>
        <p:nvSpPr>
          <p:cNvPr id="22" name="Text 20"/>
          <p:cNvSpPr/>
          <p:nvPr/>
        </p:nvSpPr>
        <p:spPr>
          <a:xfrm>
            <a:off x="5970140" y="4777581"/>
            <a:ext cx="251116" cy="313928"/>
          </a:xfrm>
          <a:prstGeom prst="rect">
            <a:avLst/>
          </a:prstGeom>
          <a:noFill/>
          <a:ln/>
        </p:spPr>
        <p:txBody>
          <a:bodyPr wrap="none" lIns="0" tIns="0" rIns="0" bIns="0" rtlCol="0" anchor="ctr"/>
          <a:lstStyle/>
          <a:p>
            <a:pPr marL="0" indent="0" algn="ctr">
              <a:lnSpc>
                <a:spcPct val="100000"/>
              </a:lnSpc>
              <a:buNone/>
            </a:pPr>
            <a:r>
              <a:rPr lang="en-US" sz="1950" dirty="0">
                <a:solidFill>
                  <a:srgbClr val="FFFFFF"/>
                </a:solidFill>
                <a:latin typeface="Roboto Slab" pitchFamily="34" charset="0"/>
                <a:ea typeface="Roboto Slab" pitchFamily="34" charset="-122"/>
                <a:cs typeface="Roboto Slab" pitchFamily="34" charset="-120"/>
              </a:rPr>
              <a:t>4</a:t>
            </a:r>
            <a:endParaRPr lang="en-US" sz="1950" dirty="0"/>
          </a:p>
        </p:txBody>
      </p:sp>
      <p:sp>
        <p:nvSpPr>
          <p:cNvPr id="23" name="Text 21"/>
          <p:cNvSpPr/>
          <p:nvPr/>
        </p:nvSpPr>
        <p:spPr>
          <a:xfrm>
            <a:off x="3954661" y="5396805"/>
            <a:ext cx="4282273" cy="290711"/>
          </a:xfrm>
          <a:prstGeom prst="rect">
            <a:avLst/>
          </a:prstGeom>
          <a:noFill/>
          <a:ln/>
        </p:spPr>
        <p:txBody>
          <a:bodyPr wrap="none" lIns="0" tIns="0" rIns="0" bIns="0" rtlCol="0" anchor="t"/>
          <a:lstStyle/>
          <a:p>
            <a:pPr marL="0" indent="0" algn="ctr">
              <a:lnSpc>
                <a:spcPct val="104000"/>
              </a:lnSpc>
              <a:buNone/>
            </a:pPr>
            <a:r>
              <a:rPr lang="en-US" sz="1800" dirty="0">
                <a:solidFill>
                  <a:srgbClr val="15213F"/>
                </a:solidFill>
                <a:latin typeface="Roboto Slab" pitchFamily="34" charset="0"/>
                <a:ea typeface="Roboto Slab" pitchFamily="34" charset="-122"/>
                <a:cs typeface="Roboto Slab" pitchFamily="34" charset="-120"/>
              </a:rPr>
              <a:t>Multiple WhatsApp Business Accounts</a:t>
            </a:r>
            <a:endParaRPr lang="en-US" sz="1800" dirty="0"/>
          </a:p>
        </p:txBody>
      </p:sp>
      <p:sp>
        <p:nvSpPr>
          <p:cNvPr id="24" name="Text 22"/>
          <p:cNvSpPr/>
          <p:nvPr/>
        </p:nvSpPr>
        <p:spPr>
          <a:xfrm>
            <a:off x="847505" y="5797352"/>
            <a:ext cx="10496585" cy="295275"/>
          </a:xfrm>
          <a:prstGeom prst="rect">
            <a:avLst/>
          </a:prstGeom>
          <a:noFill/>
          <a:ln/>
        </p:spPr>
        <p:txBody>
          <a:bodyPr wrap="none" lIns="0" tIns="0" rIns="0" bIns="0" rtlCol="0" anchor="t"/>
          <a:lstStyle/>
          <a:p>
            <a:pPr marL="0" indent="0" algn="ctr">
              <a:lnSpc>
                <a:spcPct val="132000"/>
              </a:lnSpc>
              <a:buNone/>
            </a:pPr>
            <a:r>
              <a:rPr lang="en-US" sz="1450" dirty="0">
                <a:solidFill>
                  <a:srgbClr val="15213F"/>
                </a:solidFill>
                <a:latin typeface="Roboto" pitchFamily="34" charset="0"/>
                <a:ea typeface="Roboto" pitchFamily="34" charset="-122"/>
                <a:cs typeface="Roboto" pitchFamily="34" charset="-120"/>
              </a:rPr>
              <a:t>Client documents are split across separate conversations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63203"/>
            <a:ext cx="8070847"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Roboto Slab Bold" pitchFamily="34" charset="0"/>
                <a:ea typeface="Roboto Slab Bold" pitchFamily="34" charset="-122"/>
                <a:cs typeface="Roboto Slab Bold" pitchFamily="34" charset="-120"/>
              </a:rPr>
              <a:t>Client Requirements: FR and NFR</a:t>
            </a:r>
            <a:endParaRPr lang="en-US" sz="3700" dirty="0"/>
          </a:p>
        </p:txBody>
      </p:sp>
      <p:sp>
        <p:nvSpPr>
          <p:cNvPr id="3" name="Text 1"/>
          <p:cNvSpPr/>
          <p:nvPr/>
        </p:nvSpPr>
        <p:spPr>
          <a:xfrm>
            <a:off x="661475" y="1529457"/>
            <a:ext cx="9363238" cy="295275"/>
          </a:xfrm>
          <a:prstGeom prst="rect">
            <a:avLst/>
          </a:prstGeom>
          <a:noFill/>
          <a:ln/>
        </p:spPr>
        <p:txBody>
          <a:bodyPr wrap="none" lIns="0" tIns="0" rIns="0" bIns="0" rtlCol="0" anchor="t"/>
          <a:lstStyle/>
          <a:p>
            <a:pPr marL="0" indent="0" algn="l">
              <a:lnSpc>
                <a:spcPct val="104000"/>
              </a:lnSpc>
              <a:buNone/>
            </a:pPr>
            <a:r>
              <a:rPr lang="en-US" sz="1850" dirty="0">
                <a:solidFill>
                  <a:srgbClr val="3257B8"/>
                </a:solidFill>
                <a:latin typeface="Roboto Slab" pitchFamily="34" charset="0"/>
                <a:ea typeface="Roboto Slab" pitchFamily="34" charset="-122"/>
                <a:cs typeface="Roboto Slab" pitchFamily="34" charset="-120"/>
              </a:rPr>
              <a:t>Key functional and non-functional needs identified during the client interview</a:t>
            </a:r>
            <a:endParaRPr lang="en-US" sz="1850" dirty="0"/>
          </a:p>
        </p:txBody>
      </p:sp>
      <p:sp>
        <p:nvSpPr>
          <p:cNvPr id="4" name="Shape 2"/>
          <p:cNvSpPr/>
          <p:nvPr/>
        </p:nvSpPr>
        <p:spPr>
          <a:xfrm>
            <a:off x="661475" y="2108200"/>
            <a:ext cx="10868745" cy="3371552"/>
          </a:xfrm>
          <a:prstGeom prst="roundRect">
            <a:avLst>
              <a:gd name="adj" fmla="val 841"/>
            </a:avLst>
          </a:prstGeom>
          <a:noFill/>
          <a:ln w="6350">
            <a:solidFill>
              <a:srgbClr val="000000">
                <a:alpha val="8000"/>
              </a:srgbClr>
            </a:solidFill>
            <a:prstDash val="solid"/>
          </a:ln>
        </p:spPr>
        <p:txBody>
          <a:bodyPr/>
          <a:lstStyle/>
          <a:p>
            <a:endParaRPr lang="he-IL"/>
          </a:p>
        </p:txBody>
      </p:sp>
      <p:sp>
        <p:nvSpPr>
          <p:cNvPr id="5" name="Text 3"/>
          <p:cNvSpPr/>
          <p:nvPr/>
        </p:nvSpPr>
        <p:spPr>
          <a:xfrm>
            <a:off x="552039" y="2234307"/>
            <a:ext cx="5656419" cy="377924"/>
          </a:xfrm>
          <a:prstGeom prst="rect">
            <a:avLst/>
          </a:prstGeom>
          <a:noFill/>
          <a:ln/>
        </p:spPr>
        <p:txBody>
          <a:bodyPr wrap="none" lIns="0" tIns="0" rIns="0" bIns="0" rtlCol="0" anchor="t"/>
          <a:lstStyle/>
          <a:p>
            <a:pPr marL="0" indent="0" algn="ctr">
              <a:lnSpc>
                <a:spcPct val="133000"/>
              </a:lnSpc>
              <a:buNone/>
            </a:pPr>
            <a:r>
              <a:rPr lang="en-US" sz="1850" b="1" dirty="0">
                <a:solidFill>
                  <a:srgbClr val="15213F"/>
                </a:solidFill>
                <a:latin typeface="Roboto Bold" pitchFamily="34" charset="0"/>
                <a:ea typeface="Roboto Bold" pitchFamily="34" charset="-122"/>
                <a:cs typeface="Roboto Bold" pitchFamily="34" charset="-120"/>
              </a:rPr>
              <a:t>Functional Requirements</a:t>
            </a:r>
            <a:endParaRPr lang="en-US" sz="1850" dirty="0"/>
          </a:p>
        </p:txBody>
      </p:sp>
      <p:sp>
        <p:nvSpPr>
          <p:cNvPr id="6" name="Text 4"/>
          <p:cNvSpPr/>
          <p:nvPr/>
        </p:nvSpPr>
        <p:spPr>
          <a:xfrm>
            <a:off x="5983237" y="2234307"/>
            <a:ext cx="5656419" cy="377924"/>
          </a:xfrm>
          <a:prstGeom prst="rect">
            <a:avLst/>
          </a:prstGeom>
          <a:noFill/>
          <a:ln/>
        </p:spPr>
        <p:txBody>
          <a:bodyPr wrap="none" lIns="0" tIns="0" rIns="0" bIns="0" rtlCol="0" anchor="t"/>
          <a:lstStyle/>
          <a:p>
            <a:pPr marL="0" indent="0" algn="ctr">
              <a:lnSpc>
                <a:spcPct val="133000"/>
              </a:lnSpc>
              <a:buNone/>
            </a:pPr>
            <a:r>
              <a:rPr lang="en-US" sz="1850" b="1" dirty="0">
                <a:solidFill>
                  <a:srgbClr val="15213F"/>
                </a:solidFill>
                <a:latin typeface="Roboto Bold" pitchFamily="34" charset="0"/>
                <a:ea typeface="Roboto Bold" pitchFamily="34" charset="-122"/>
                <a:cs typeface="Roboto Bold" pitchFamily="34" charset="-120"/>
              </a:rPr>
              <a:t>Non-Functional Requirements</a:t>
            </a:r>
            <a:endParaRPr lang="en-US" sz="1850" dirty="0"/>
          </a:p>
        </p:txBody>
      </p:sp>
      <p:sp>
        <p:nvSpPr>
          <p:cNvPr id="7" name="Text 5"/>
          <p:cNvSpPr/>
          <p:nvPr/>
        </p:nvSpPr>
        <p:spPr>
          <a:xfrm>
            <a:off x="552039" y="2858095"/>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Collect documents from WhatsApp, Gmail, and web upload</a:t>
            </a:r>
            <a:endParaRPr lang="en-US" sz="1450" dirty="0"/>
          </a:p>
        </p:txBody>
      </p:sp>
      <p:sp>
        <p:nvSpPr>
          <p:cNvPr id="8" name="Text 6"/>
          <p:cNvSpPr/>
          <p:nvPr/>
        </p:nvSpPr>
        <p:spPr>
          <a:xfrm>
            <a:off x="5983237" y="2858095"/>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Secure separation between client data</a:t>
            </a:r>
            <a:endParaRPr lang="en-US" sz="1450" dirty="0"/>
          </a:p>
        </p:txBody>
      </p:sp>
      <p:sp>
        <p:nvSpPr>
          <p:cNvPr id="9" name="Text 7"/>
          <p:cNvSpPr/>
          <p:nvPr/>
        </p:nvSpPr>
        <p:spPr>
          <a:xfrm>
            <a:off x="552039" y="3406378"/>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Allow clients to upload documents through a web portal</a:t>
            </a:r>
            <a:endParaRPr lang="en-US" sz="1450" dirty="0"/>
          </a:p>
        </p:txBody>
      </p:sp>
      <p:sp>
        <p:nvSpPr>
          <p:cNvPr id="10" name="Text 8"/>
          <p:cNvSpPr/>
          <p:nvPr/>
        </p:nvSpPr>
        <p:spPr>
          <a:xfrm>
            <a:off x="5983237" y="3406378"/>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Mobile-friendly interface</a:t>
            </a:r>
            <a:endParaRPr lang="en-US" sz="1450" dirty="0"/>
          </a:p>
        </p:txBody>
      </p:sp>
      <p:sp>
        <p:nvSpPr>
          <p:cNvPr id="11" name="Text 9"/>
          <p:cNvSpPr/>
          <p:nvPr/>
        </p:nvSpPr>
        <p:spPr>
          <a:xfrm>
            <a:off x="552039" y="3954661"/>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Extract document data</a:t>
            </a:r>
            <a:endParaRPr lang="en-US" sz="1450" dirty="0"/>
          </a:p>
        </p:txBody>
      </p:sp>
      <p:sp>
        <p:nvSpPr>
          <p:cNvPr id="12" name="Text 10"/>
          <p:cNvSpPr/>
          <p:nvPr/>
        </p:nvSpPr>
        <p:spPr>
          <a:xfrm>
            <a:off x="5983237" y="3954661"/>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Fast dashboard loading</a:t>
            </a:r>
            <a:endParaRPr lang="en-US" sz="1450" dirty="0"/>
          </a:p>
        </p:txBody>
      </p:sp>
      <p:sp>
        <p:nvSpPr>
          <p:cNvPr id="13" name="Text 11"/>
          <p:cNvSpPr/>
          <p:nvPr/>
        </p:nvSpPr>
        <p:spPr>
          <a:xfrm>
            <a:off x="552039" y="4502944"/>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Notify accountants about completed or late submissions</a:t>
            </a:r>
            <a:endParaRPr lang="en-US" sz="1450" dirty="0"/>
          </a:p>
        </p:txBody>
      </p:sp>
      <p:sp>
        <p:nvSpPr>
          <p:cNvPr id="14" name="Text 12"/>
          <p:cNvSpPr/>
          <p:nvPr/>
        </p:nvSpPr>
        <p:spPr>
          <a:xfrm>
            <a:off x="5983237" y="4502944"/>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High availability during business hours</a:t>
            </a:r>
            <a:endParaRPr lang="en-US" sz="1450" dirty="0"/>
          </a:p>
        </p:txBody>
      </p:sp>
      <p:sp>
        <p:nvSpPr>
          <p:cNvPr id="15" name="Text 13"/>
          <p:cNvSpPr/>
          <p:nvPr/>
        </p:nvSpPr>
        <p:spPr>
          <a:xfrm>
            <a:off x="552039" y="5051227"/>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Allow accountants to verify each processed document</a:t>
            </a:r>
            <a:endParaRPr lang="en-US" sz="1450" dirty="0"/>
          </a:p>
        </p:txBody>
      </p:sp>
      <p:sp>
        <p:nvSpPr>
          <p:cNvPr id="16" name="Text 14"/>
          <p:cNvSpPr/>
          <p:nvPr/>
        </p:nvSpPr>
        <p:spPr>
          <a:xfrm>
            <a:off x="5983237" y="5051227"/>
            <a:ext cx="5656419" cy="302419"/>
          </a:xfrm>
          <a:prstGeom prst="rect">
            <a:avLst/>
          </a:prstGeom>
          <a:noFill/>
          <a:ln/>
        </p:spPr>
        <p:txBody>
          <a:bodyPr wrap="none" lIns="0" tIns="0" rIns="0" bIns="0" rtlCol="0" anchor="t"/>
          <a:lstStyle/>
          <a:p>
            <a:pPr marL="0" indent="0" algn="ctr">
              <a:lnSpc>
                <a:spcPct val="133000"/>
              </a:lnSpc>
              <a:buNone/>
            </a:pPr>
            <a:r>
              <a:rPr lang="en-US" sz="1450" dirty="0">
                <a:solidFill>
                  <a:srgbClr val="15213F"/>
                </a:solidFill>
                <a:latin typeface="Roboto" pitchFamily="34" charset="0"/>
                <a:ea typeface="Roboto" pitchFamily="34" charset="-122"/>
                <a:cs typeface="Roboto" pitchFamily="34" charset="-120"/>
              </a:rPr>
              <a:t>Encryption, backups, and audit logging</a:t>
            </a:r>
            <a:endParaRPr lang="en-US" sz="1450" dirty="0"/>
          </a:p>
        </p:txBody>
      </p:sp>
      <p:sp>
        <p:nvSpPr>
          <p:cNvPr id="17" name="Text 15"/>
          <p:cNvSpPr/>
          <p:nvPr/>
        </p:nvSpPr>
        <p:spPr>
          <a:xfrm>
            <a:off x="661475" y="5692378"/>
            <a:ext cx="11478330" cy="302419"/>
          </a:xfrm>
          <a:prstGeom prst="rect">
            <a:avLst/>
          </a:prstGeom>
          <a:noFill/>
          <a:ln/>
        </p:spPr>
        <p:txBody>
          <a:bodyPr wrap="none" lIns="0" tIns="0" rIns="0" bIns="0" rtlCol="0" anchor="t"/>
          <a:lstStyle/>
          <a:p>
            <a:pPr marL="0" indent="0" algn="l">
              <a:lnSpc>
                <a:spcPct val="133000"/>
              </a:lnSpc>
              <a:buNone/>
            </a:pP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998438"/>
            <a:ext cx="6388139"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Roboto Slab Bold" pitchFamily="34" charset="0"/>
                <a:ea typeface="Roboto Slab Bold" pitchFamily="34" charset="-122"/>
                <a:cs typeface="Roboto Slab Bold" pitchFamily="34" charset="-120"/>
              </a:rPr>
              <a:t>Existing Solutions &amp; Gaps</a:t>
            </a:r>
            <a:endParaRPr lang="en-US" sz="3700" dirty="0"/>
          </a:p>
        </p:txBody>
      </p:sp>
      <p:sp>
        <p:nvSpPr>
          <p:cNvPr id="3" name="Text 1"/>
          <p:cNvSpPr/>
          <p:nvPr/>
        </p:nvSpPr>
        <p:spPr>
          <a:xfrm>
            <a:off x="661475" y="1664692"/>
            <a:ext cx="7606514" cy="354409"/>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Roboto Slab" pitchFamily="34" charset="0"/>
                <a:ea typeface="Roboto Slab" pitchFamily="34" charset="-122"/>
                <a:cs typeface="Roboto Slab" pitchFamily="34" charset="-120"/>
              </a:rPr>
              <a:t>Existing solutions and the gap our system addresses</a:t>
            </a:r>
            <a:endParaRPr lang="en-US" sz="2200" dirty="0"/>
          </a:p>
        </p:txBody>
      </p:sp>
      <p:sp>
        <p:nvSpPr>
          <p:cNvPr id="4" name="Shape 2"/>
          <p:cNvSpPr/>
          <p:nvPr/>
        </p:nvSpPr>
        <p:spPr>
          <a:xfrm>
            <a:off x="661475" y="2515195"/>
            <a:ext cx="3390914" cy="2632472"/>
          </a:xfrm>
          <a:prstGeom prst="roundRect">
            <a:avLst>
              <a:gd name="adj" fmla="val 1077"/>
            </a:avLst>
          </a:prstGeom>
          <a:noFill/>
          <a:ln w="6350">
            <a:solidFill>
              <a:srgbClr val="000000">
                <a:alpha val="8000"/>
              </a:srgbClr>
            </a:solidFill>
            <a:prstDash val="solid"/>
          </a:ln>
        </p:spPr>
        <p:txBody>
          <a:bodyPr/>
          <a:lstStyle/>
          <a:p>
            <a:endParaRPr lang="he-IL"/>
          </a:p>
        </p:txBody>
      </p:sp>
      <p:sp>
        <p:nvSpPr>
          <p:cNvPr id="5" name="Text 3"/>
          <p:cNvSpPr/>
          <p:nvPr/>
        </p:nvSpPr>
        <p:spPr>
          <a:xfrm>
            <a:off x="552039" y="2641302"/>
            <a:ext cx="3609785" cy="377924"/>
          </a:xfrm>
          <a:prstGeom prst="rect">
            <a:avLst/>
          </a:prstGeom>
          <a:noFill/>
          <a:ln/>
        </p:spPr>
        <p:txBody>
          <a:bodyPr wrap="none" lIns="0" tIns="0" rIns="0" bIns="0" rtlCol="0" anchor="t"/>
          <a:lstStyle/>
          <a:p>
            <a:pPr marL="0" indent="0" algn="ctr">
              <a:lnSpc>
                <a:spcPct val="133000"/>
              </a:lnSpc>
              <a:buNone/>
            </a:pPr>
            <a:r>
              <a:rPr lang="en-US" sz="1850" b="1" dirty="0">
                <a:solidFill>
                  <a:srgbClr val="15213F"/>
                </a:solidFill>
                <a:latin typeface="Roboto Bold" pitchFamily="34" charset="0"/>
                <a:ea typeface="Roboto Bold" pitchFamily="34" charset="-122"/>
                <a:cs typeface="Roboto Bold" pitchFamily="34" charset="-120"/>
              </a:rPr>
              <a:t>Hashavshevet</a:t>
            </a:r>
            <a:endParaRPr lang="en-US" sz="1850" dirty="0"/>
          </a:p>
        </p:txBody>
      </p:sp>
      <p:pic>
        <p:nvPicPr>
          <p:cNvPr id="6" name="Image 0" descr="preencoded.png"/>
          <p:cNvPicPr>
            <a:picLocks noChangeAspect="1"/>
          </p:cNvPicPr>
          <p:nvPr/>
        </p:nvPicPr>
        <p:blipFill>
          <a:blip r:embed="rId3"/>
          <a:stretch>
            <a:fillRect/>
          </a:stretch>
        </p:blipFill>
        <p:spPr>
          <a:xfrm>
            <a:off x="856832" y="3258741"/>
            <a:ext cx="3000201" cy="918468"/>
          </a:xfrm>
          <a:prstGeom prst="rect">
            <a:avLst/>
          </a:prstGeom>
        </p:spPr>
      </p:pic>
      <p:sp>
        <p:nvSpPr>
          <p:cNvPr id="7" name="Text 4"/>
          <p:cNvSpPr/>
          <p:nvPr/>
        </p:nvSpPr>
        <p:spPr>
          <a:xfrm>
            <a:off x="856832" y="4416723"/>
            <a:ext cx="3000201"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Powerful but too complex for everyday clients to use.</a:t>
            </a:r>
            <a:endParaRPr lang="en-US" sz="1450" dirty="0"/>
          </a:p>
        </p:txBody>
      </p:sp>
      <p:sp>
        <p:nvSpPr>
          <p:cNvPr id="8" name="Shape 5"/>
          <p:cNvSpPr/>
          <p:nvPr/>
        </p:nvSpPr>
        <p:spPr>
          <a:xfrm>
            <a:off x="4519896" y="2515195"/>
            <a:ext cx="3277709" cy="2767707"/>
          </a:xfrm>
          <a:prstGeom prst="roundRect">
            <a:avLst>
              <a:gd name="adj" fmla="val 1024"/>
            </a:avLst>
          </a:prstGeom>
          <a:noFill/>
          <a:ln w="6350">
            <a:solidFill>
              <a:srgbClr val="000000">
                <a:alpha val="8000"/>
              </a:srgbClr>
            </a:solidFill>
            <a:prstDash val="solid"/>
          </a:ln>
        </p:spPr>
        <p:txBody>
          <a:bodyPr/>
          <a:lstStyle/>
          <a:p>
            <a:endParaRPr lang="he-IL"/>
          </a:p>
        </p:txBody>
      </p:sp>
      <p:sp>
        <p:nvSpPr>
          <p:cNvPr id="9" name="Text 6"/>
          <p:cNvSpPr/>
          <p:nvPr/>
        </p:nvSpPr>
        <p:spPr>
          <a:xfrm>
            <a:off x="4410461" y="2641302"/>
            <a:ext cx="3496580" cy="377924"/>
          </a:xfrm>
          <a:prstGeom prst="rect">
            <a:avLst/>
          </a:prstGeom>
          <a:noFill/>
          <a:ln/>
        </p:spPr>
        <p:txBody>
          <a:bodyPr wrap="none" lIns="0" tIns="0" rIns="0" bIns="0" rtlCol="0" anchor="t"/>
          <a:lstStyle/>
          <a:p>
            <a:pPr marL="0" indent="0" algn="ctr">
              <a:lnSpc>
                <a:spcPct val="133000"/>
              </a:lnSpc>
              <a:buNone/>
            </a:pPr>
            <a:r>
              <a:rPr lang="en-US" sz="1850" b="1" dirty="0">
                <a:solidFill>
                  <a:srgbClr val="15213F"/>
                </a:solidFill>
                <a:latin typeface="Roboto Bold" pitchFamily="34" charset="0"/>
                <a:ea typeface="Roboto Bold" pitchFamily="34" charset="-122"/>
                <a:cs typeface="Roboto Bold" pitchFamily="34" charset="-120"/>
              </a:rPr>
              <a:t>Morning</a:t>
            </a:r>
            <a:endParaRPr lang="en-US" sz="1850" dirty="0"/>
          </a:p>
        </p:txBody>
      </p:sp>
      <p:sp>
        <p:nvSpPr>
          <p:cNvPr id="10" name="Text 7"/>
          <p:cNvSpPr/>
          <p:nvPr/>
        </p:nvSpPr>
        <p:spPr>
          <a:xfrm>
            <a:off x="4410461" y="3258741"/>
            <a:ext cx="3496580" cy="302419"/>
          </a:xfrm>
          <a:prstGeom prst="rect">
            <a:avLst/>
          </a:prstGeom>
          <a:noFill/>
          <a:ln/>
        </p:spPr>
        <p:txBody>
          <a:bodyPr wrap="none" lIns="0" tIns="0" rIns="0" bIns="0" rtlCol="0" anchor="t"/>
          <a:lstStyle/>
          <a:p>
            <a:pPr marL="0" indent="0" algn="ctr">
              <a:lnSpc>
                <a:spcPct val="133000"/>
              </a:lnSpc>
              <a:buNone/>
            </a:pPr>
            <a:endParaRPr lang="en-US" sz="1450" dirty="0"/>
          </a:p>
        </p:txBody>
      </p:sp>
      <p:pic>
        <p:nvPicPr>
          <p:cNvPr id="11" name="Image 1" descr="preencoded.png"/>
          <p:cNvPicPr>
            <a:picLocks noChangeAspect="1"/>
          </p:cNvPicPr>
          <p:nvPr/>
        </p:nvPicPr>
        <p:blipFill>
          <a:blip r:embed="rId4"/>
          <a:stretch>
            <a:fillRect/>
          </a:stretch>
        </p:blipFill>
        <p:spPr>
          <a:xfrm>
            <a:off x="4741149" y="3674566"/>
            <a:ext cx="2835204" cy="637877"/>
          </a:xfrm>
          <a:prstGeom prst="rect">
            <a:avLst/>
          </a:prstGeom>
        </p:spPr>
      </p:pic>
      <p:sp>
        <p:nvSpPr>
          <p:cNvPr id="12" name="Text 8"/>
          <p:cNvSpPr/>
          <p:nvPr/>
        </p:nvSpPr>
        <p:spPr>
          <a:xfrm>
            <a:off x="4715253" y="4551958"/>
            <a:ext cx="288699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Handles invoicing but misses external expenses.</a:t>
            </a:r>
            <a:endParaRPr lang="en-US" sz="1450" dirty="0"/>
          </a:p>
        </p:txBody>
      </p:sp>
      <p:sp>
        <p:nvSpPr>
          <p:cNvPr id="13" name="Shape 9"/>
          <p:cNvSpPr/>
          <p:nvPr/>
        </p:nvSpPr>
        <p:spPr>
          <a:xfrm>
            <a:off x="8265112" y="2515195"/>
            <a:ext cx="3277709" cy="3131641"/>
          </a:xfrm>
          <a:prstGeom prst="roundRect">
            <a:avLst>
              <a:gd name="adj" fmla="val 905"/>
            </a:avLst>
          </a:prstGeom>
          <a:noFill/>
          <a:ln w="6350">
            <a:solidFill>
              <a:srgbClr val="000000">
                <a:alpha val="8000"/>
              </a:srgbClr>
            </a:solidFill>
            <a:prstDash val="solid"/>
          </a:ln>
        </p:spPr>
        <p:txBody>
          <a:bodyPr/>
          <a:lstStyle/>
          <a:p>
            <a:endParaRPr lang="he-IL"/>
          </a:p>
        </p:txBody>
      </p:sp>
      <p:sp>
        <p:nvSpPr>
          <p:cNvPr id="14" name="Text 10"/>
          <p:cNvSpPr/>
          <p:nvPr/>
        </p:nvSpPr>
        <p:spPr>
          <a:xfrm>
            <a:off x="8155676" y="2641302"/>
            <a:ext cx="3496580" cy="377924"/>
          </a:xfrm>
          <a:prstGeom prst="rect">
            <a:avLst/>
          </a:prstGeom>
          <a:noFill/>
          <a:ln/>
        </p:spPr>
        <p:txBody>
          <a:bodyPr wrap="none" lIns="0" tIns="0" rIns="0" bIns="0" rtlCol="0" anchor="t"/>
          <a:lstStyle/>
          <a:p>
            <a:pPr marL="0" indent="0" algn="ctr">
              <a:lnSpc>
                <a:spcPct val="133000"/>
              </a:lnSpc>
              <a:buNone/>
            </a:pPr>
            <a:r>
              <a:rPr lang="en-US" sz="1850" b="1" dirty="0">
                <a:solidFill>
                  <a:srgbClr val="15213F"/>
                </a:solidFill>
                <a:latin typeface="Roboto Bold" pitchFamily="34" charset="0"/>
                <a:ea typeface="Roboto Bold" pitchFamily="34" charset="-122"/>
                <a:cs typeface="Roboto Bold" pitchFamily="34" charset="-120"/>
              </a:rPr>
              <a:t>Dext</a:t>
            </a:r>
            <a:endParaRPr lang="en-US" sz="1850" dirty="0"/>
          </a:p>
        </p:txBody>
      </p:sp>
      <p:pic>
        <p:nvPicPr>
          <p:cNvPr id="15" name="Image 2" descr="preencoded.png"/>
          <p:cNvPicPr>
            <a:picLocks noChangeAspect="1"/>
          </p:cNvPicPr>
          <p:nvPr/>
        </p:nvPicPr>
        <p:blipFill>
          <a:blip r:embed="rId5"/>
          <a:stretch>
            <a:fillRect/>
          </a:stretch>
        </p:blipFill>
        <p:spPr>
          <a:xfrm>
            <a:off x="9195165" y="3258741"/>
            <a:ext cx="1417602" cy="1417638"/>
          </a:xfrm>
          <a:prstGeom prst="rect">
            <a:avLst/>
          </a:prstGeom>
        </p:spPr>
      </p:pic>
      <p:sp>
        <p:nvSpPr>
          <p:cNvPr id="16" name="Text 11"/>
          <p:cNvSpPr/>
          <p:nvPr/>
        </p:nvSpPr>
        <p:spPr>
          <a:xfrm>
            <a:off x="8460469" y="4915892"/>
            <a:ext cx="288699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No unified workspace and does not work in Hebrew.</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58701"/>
            <a:ext cx="4522774" cy="489148"/>
          </a:xfrm>
          <a:prstGeom prst="rect">
            <a:avLst/>
          </a:prstGeom>
          <a:noFill/>
          <a:ln/>
        </p:spPr>
        <p:txBody>
          <a:bodyPr wrap="none" lIns="0" tIns="0" rIns="0" bIns="0" rtlCol="0" anchor="t"/>
          <a:lstStyle/>
          <a:p>
            <a:pPr marL="0" indent="0" algn="l">
              <a:lnSpc>
                <a:spcPct val="104000"/>
              </a:lnSpc>
              <a:buNone/>
            </a:pPr>
            <a:r>
              <a:rPr lang="en-US" sz="3050" b="1" dirty="0">
                <a:solidFill>
                  <a:srgbClr val="3257B8"/>
                </a:solidFill>
                <a:latin typeface="Roboto Slab Bold" pitchFamily="34" charset="0"/>
                <a:ea typeface="Roboto Slab Bold" pitchFamily="34" charset="-122"/>
                <a:cs typeface="Roboto Slab Bold" pitchFamily="34" charset="-120"/>
              </a:rPr>
              <a:t>Our Solution</a:t>
            </a:r>
            <a:endParaRPr lang="en-US" sz="30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307108"/>
            <a:ext cx="10868745" cy="1671340"/>
          </a:xfrm>
          <a:prstGeom prst="rect">
            <a:avLst/>
          </a:prstGeom>
        </p:spPr>
      </p:pic>
      <p:sp>
        <p:nvSpPr>
          <p:cNvPr id="4" name="Text 1"/>
          <p:cNvSpPr/>
          <p:nvPr/>
        </p:nvSpPr>
        <p:spPr>
          <a:xfrm>
            <a:off x="913187" y="1482626"/>
            <a:ext cx="9332481" cy="293489"/>
          </a:xfrm>
          <a:prstGeom prst="rect">
            <a:avLst/>
          </a:prstGeom>
          <a:noFill/>
          <a:ln/>
        </p:spPr>
        <p:txBody>
          <a:bodyPr wrap="none" lIns="0" tIns="0" rIns="0" bIns="0" rtlCol="0" anchor="t"/>
          <a:lstStyle/>
          <a:p>
            <a:pPr marL="0" indent="0" algn="l">
              <a:lnSpc>
                <a:spcPct val="104000"/>
              </a:lnSpc>
              <a:buNone/>
            </a:pPr>
            <a:r>
              <a:rPr lang="en-US" sz="1800" dirty="0">
                <a:solidFill>
                  <a:srgbClr val="15213F"/>
                </a:solidFill>
                <a:latin typeface="Roboto Slab" pitchFamily="34" charset="0"/>
                <a:ea typeface="Roboto Slab" pitchFamily="34" charset="-122"/>
                <a:cs typeface="Roboto Slab" pitchFamily="34" charset="-120"/>
              </a:rPr>
              <a:t>A web-based platform connecting clients and accountants in one unified workspace</a:t>
            </a:r>
            <a:endParaRPr lang="en-US" sz="1800" dirty="0"/>
          </a:p>
        </p:txBody>
      </p:sp>
      <p:sp>
        <p:nvSpPr>
          <p:cNvPr id="5" name="Text 2"/>
          <p:cNvSpPr/>
          <p:nvPr/>
        </p:nvSpPr>
        <p:spPr>
          <a:xfrm>
            <a:off x="913187" y="1853803"/>
            <a:ext cx="10441520" cy="949127"/>
          </a:xfrm>
          <a:prstGeom prst="rect">
            <a:avLst/>
          </a:prstGeom>
          <a:noFill/>
          <a:ln/>
        </p:spPr>
        <p:txBody>
          <a:bodyPr wrap="square" lIns="0" tIns="0" rIns="0" bIns="0" rtlCol="0" anchor="t">
            <a:normAutofit/>
          </a:bodyPr>
          <a:lstStyle/>
          <a:p>
            <a:pPr marL="243840" indent="-243840" algn="l">
              <a:lnSpc>
                <a:spcPct val="122000"/>
              </a:lnSpc>
              <a:buSzPct val="100000"/>
              <a:buChar char="•"/>
            </a:pPr>
            <a:r>
              <a:rPr lang="en-US" sz="1200" dirty="0">
                <a:solidFill>
                  <a:srgbClr val="15213F"/>
                </a:solidFill>
                <a:latin typeface="Roboto" pitchFamily="34" charset="0"/>
                <a:ea typeface="Roboto" pitchFamily="34" charset="-122"/>
                <a:cs typeface="Roboto" pitchFamily="34" charset="-120"/>
              </a:rPr>
              <a:t>Centralized document collection</a:t>
            </a:r>
            <a:endParaRPr lang="en-US" sz="1200" dirty="0"/>
          </a:p>
          <a:p>
            <a:pPr marL="243840" indent="-243840" algn="l">
              <a:lnSpc>
                <a:spcPct val="122000"/>
              </a:lnSpc>
              <a:buSzPct val="100000"/>
              <a:buChar char="•"/>
            </a:pPr>
            <a:r>
              <a:rPr lang="en-US" sz="1200" dirty="0">
                <a:solidFill>
                  <a:srgbClr val="15213F"/>
                </a:solidFill>
                <a:latin typeface="Roboto" pitchFamily="34" charset="0"/>
                <a:ea typeface="Roboto" pitchFamily="34" charset="-122"/>
                <a:cs typeface="Roboto" pitchFamily="34" charset="-120"/>
              </a:rPr>
              <a:t>Accountants access a centralized dashboard for document review and tracking</a:t>
            </a:r>
            <a:endParaRPr lang="en-US" sz="1200" dirty="0"/>
          </a:p>
          <a:p>
            <a:pPr marL="243840" indent="-243840" algn="l">
              <a:lnSpc>
                <a:spcPct val="122000"/>
              </a:lnSpc>
              <a:buSzPct val="100000"/>
              <a:buChar char="•"/>
            </a:pPr>
            <a:r>
              <a:rPr lang="en-US" sz="1200" dirty="0">
                <a:solidFill>
                  <a:srgbClr val="15213F"/>
                </a:solidFill>
                <a:latin typeface="Roboto" pitchFamily="34" charset="0"/>
                <a:ea typeface="Roboto" pitchFamily="34" charset="-122"/>
                <a:cs typeface="Roboto" pitchFamily="34" charset="-120"/>
              </a:rPr>
              <a:t>Automatic data extraction for reports and client-document matching</a:t>
            </a:r>
            <a:endParaRPr lang="en-US" sz="1200" dirty="0"/>
          </a:p>
        </p:txBody>
      </p:sp>
      <p:sp>
        <p:nvSpPr>
          <p:cNvPr id="6" name="Text 3"/>
          <p:cNvSpPr/>
          <p:nvPr/>
        </p:nvSpPr>
        <p:spPr>
          <a:xfrm>
            <a:off x="4812783" y="3172817"/>
            <a:ext cx="2566130" cy="244574"/>
          </a:xfrm>
          <a:prstGeom prst="rect">
            <a:avLst/>
          </a:prstGeom>
          <a:noFill/>
          <a:ln/>
        </p:spPr>
        <p:txBody>
          <a:bodyPr wrap="none" lIns="0" tIns="0" rIns="0" bIns="0" rtlCol="0" anchor="t"/>
          <a:lstStyle/>
          <a:p>
            <a:pPr marL="0" indent="0" algn="ctr">
              <a:lnSpc>
                <a:spcPct val="104000"/>
              </a:lnSpc>
              <a:buNone/>
            </a:pPr>
            <a:r>
              <a:rPr lang="en-US" sz="1500" u="sng" dirty="0">
                <a:solidFill>
                  <a:srgbClr val="3257B8"/>
                </a:solidFill>
                <a:latin typeface="Roboto Slab" pitchFamily="34" charset="0"/>
                <a:ea typeface="Roboto Slab" pitchFamily="34" charset="-122"/>
                <a:cs typeface="Roboto Slab" pitchFamily="34" charset="-120"/>
              </a:rPr>
              <a:t>Key Capabilities</a:t>
            </a:r>
            <a:endParaRPr lang="en-US" sz="1500" dirty="0"/>
          </a:p>
        </p:txBody>
      </p:sp>
      <p:sp>
        <p:nvSpPr>
          <p:cNvPr id="7" name="Shape 4"/>
          <p:cNvSpPr/>
          <p:nvPr/>
        </p:nvSpPr>
        <p:spPr>
          <a:xfrm>
            <a:off x="661475" y="3611761"/>
            <a:ext cx="2620004" cy="1401266"/>
          </a:xfrm>
          <a:prstGeom prst="roundRect">
            <a:avLst>
              <a:gd name="adj" fmla="val 1676"/>
            </a:avLst>
          </a:prstGeom>
          <a:solidFill>
            <a:srgbClr val="E9ECF2"/>
          </a:solidFill>
          <a:ln/>
        </p:spPr>
        <p:txBody>
          <a:bodyPr/>
          <a:lstStyle/>
          <a:p>
            <a:endParaRPr lang="he-IL"/>
          </a:p>
        </p:txBody>
      </p:sp>
      <p:sp>
        <p:nvSpPr>
          <p:cNvPr id="8" name="Shape 5"/>
          <p:cNvSpPr/>
          <p:nvPr/>
        </p:nvSpPr>
        <p:spPr>
          <a:xfrm>
            <a:off x="817939" y="3768229"/>
            <a:ext cx="469591" cy="469602"/>
          </a:xfrm>
          <a:prstGeom prst="ellipse">
            <a:avLst/>
          </a:prstGeom>
          <a:solidFill>
            <a:srgbClr val="476FD6"/>
          </a:solidFill>
          <a:ln/>
        </p:spPr>
        <p:txBody>
          <a:bodyPr/>
          <a:lstStyle/>
          <a:p>
            <a:endParaRPr lang="he-IL"/>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7118" y="3897312"/>
            <a:ext cx="211231" cy="211237"/>
          </a:xfrm>
          <a:prstGeom prst="rect">
            <a:avLst/>
          </a:prstGeom>
        </p:spPr>
      </p:pic>
      <p:sp>
        <p:nvSpPr>
          <p:cNvPr id="10" name="Text 6"/>
          <p:cNvSpPr/>
          <p:nvPr/>
        </p:nvSpPr>
        <p:spPr>
          <a:xfrm>
            <a:off x="817939" y="4367411"/>
            <a:ext cx="1956545" cy="244574"/>
          </a:xfrm>
          <a:prstGeom prst="rect">
            <a:avLst/>
          </a:prstGeom>
          <a:noFill/>
          <a:ln/>
        </p:spPr>
        <p:txBody>
          <a:bodyPr wrap="none" lIns="0" tIns="0" rIns="0" bIns="0" rtlCol="0" anchor="t"/>
          <a:lstStyle/>
          <a:p>
            <a:pPr marL="0" indent="0" algn="l">
              <a:lnSpc>
                <a:spcPct val="104000"/>
              </a:lnSpc>
              <a:buNone/>
            </a:pPr>
            <a:r>
              <a:rPr lang="en-US" sz="1500" dirty="0">
                <a:solidFill>
                  <a:srgbClr val="15213F"/>
                </a:solidFill>
                <a:latin typeface="Roboto Slab" pitchFamily="34" charset="0"/>
                <a:ea typeface="Roboto Slab" pitchFamily="34" charset="-122"/>
                <a:cs typeface="Roboto Slab" pitchFamily="34" charset="-120"/>
              </a:rPr>
              <a:t>Client Web Portal</a:t>
            </a:r>
            <a:endParaRPr lang="en-US" sz="1500" dirty="0"/>
          </a:p>
        </p:txBody>
      </p:sp>
      <p:sp>
        <p:nvSpPr>
          <p:cNvPr id="11" name="Shape 7"/>
          <p:cNvSpPr/>
          <p:nvPr/>
        </p:nvSpPr>
        <p:spPr>
          <a:xfrm>
            <a:off x="3411055" y="3611761"/>
            <a:ext cx="2620004" cy="1401266"/>
          </a:xfrm>
          <a:prstGeom prst="roundRect">
            <a:avLst>
              <a:gd name="adj" fmla="val 1676"/>
            </a:avLst>
          </a:prstGeom>
          <a:solidFill>
            <a:srgbClr val="E9ECF2"/>
          </a:solidFill>
          <a:ln/>
        </p:spPr>
        <p:txBody>
          <a:bodyPr/>
          <a:lstStyle/>
          <a:p>
            <a:endParaRPr lang="he-IL"/>
          </a:p>
        </p:txBody>
      </p:sp>
      <p:sp>
        <p:nvSpPr>
          <p:cNvPr id="12" name="Shape 8"/>
          <p:cNvSpPr/>
          <p:nvPr/>
        </p:nvSpPr>
        <p:spPr>
          <a:xfrm>
            <a:off x="3567519" y="3768229"/>
            <a:ext cx="469591" cy="469602"/>
          </a:xfrm>
          <a:prstGeom prst="ellipse">
            <a:avLst/>
          </a:prstGeom>
          <a:solidFill>
            <a:srgbClr val="476FD6"/>
          </a:solidFill>
          <a:ln/>
        </p:spPr>
        <p:txBody>
          <a:bodyPr/>
          <a:lstStyle/>
          <a:p>
            <a:endParaRPr lang="he-IL"/>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96699" y="3897312"/>
            <a:ext cx="211231" cy="211237"/>
          </a:xfrm>
          <a:prstGeom prst="rect">
            <a:avLst/>
          </a:prstGeom>
        </p:spPr>
      </p:pic>
      <p:sp>
        <p:nvSpPr>
          <p:cNvPr id="14" name="Text 9"/>
          <p:cNvSpPr/>
          <p:nvPr/>
        </p:nvSpPr>
        <p:spPr>
          <a:xfrm>
            <a:off x="3567519" y="4367411"/>
            <a:ext cx="2111917" cy="244574"/>
          </a:xfrm>
          <a:prstGeom prst="rect">
            <a:avLst/>
          </a:prstGeom>
          <a:noFill/>
          <a:ln/>
        </p:spPr>
        <p:txBody>
          <a:bodyPr wrap="none" lIns="0" tIns="0" rIns="0" bIns="0" rtlCol="0" anchor="t"/>
          <a:lstStyle/>
          <a:p>
            <a:pPr marL="0" indent="0" algn="l">
              <a:lnSpc>
                <a:spcPct val="104000"/>
              </a:lnSpc>
              <a:buNone/>
            </a:pPr>
            <a:r>
              <a:rPr lang="en-US" sz="1500" dirty="0">
                <a:solidFill>
                  <a:srgbClr val="15213F"/>
                </a:solidFill>
                <a:latin typeface="Roboto Slab" pitchFamily="34" charset="0"/>
                <a:ea typeface="Roboto Slab" pitchFamily="34" charset="-122"/>
                <a:cs typeface="Roboto Slab" pitchFamily="34" charset="-120"/>
              </a:rPr>
              <a:t>Accountant Dashboard</a:t>
            </a:r>
            <a:endParaRPr lang="en-US" sz="1500" dirty="0"/>
          </a:p>
        </p:txBody>
      </p:sp>
      <p:sp>
        <p:nvSpPr>
          <p:cNvPr id="15" name="Shape 10"/>
          <p:cNvSpPr/>
          <p:nvPr/>
        </p:nvSpPr>
        <p:spPr>
          <a:xfrm>
            <a:off x="6160636" y="3611761"/>
            <a:ext cx="2620004" cy="1401266"/>
          </a:xfrm>
          <a:prstGeom prst="roundRect">
            <a:avLst>
              <a:gd name="adj" fmla="val 1676"/>
            </a:avLst>
          </a:prstGeom>
          <a:solidFill>
            <a:srgbClr val="E9ECF2"/>
          </a:solidFill>
          <a:ln/>
        </p:spPr>
        <p:txBody>
          <a:bodyPr/>
          <a:lstStyle/>
          <a:p>
            <a:endParaRPr lang="he-IL"/>
          </a:p>
        </p:txBody>
      </p:sp>
      <p:sp>
        <p:nvSpPr>
          <p:cNvPr id="16" name="Shape 11"/>
          <p:cNvSpPr/>
          <p:nvPr/>
        </p:nvSpPr>
        <p:spPr>
          <a:xfrm>
            <a:off x="6317100" y="3768229"/>
            <a:ext cx="469591" cy="469602"/>
          </a:xfrm>
          <a:prstGeom prst="ellipse">
            <a:avLst/>
          </a:prstGeom>
          <a:solidFill>
            <a:srgbClr val="476FD6"/>
          </a:solidFill>
          <a:ln/>
        </p:spPr>
        <p:txBody>
          <a:bodyPr/>
          <a:lstStyle/>
          <a:p>
            <a:endParaRPr lang="he-IL"/>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46279" y="3897312"/>
            <a:ext cx="211231" cy="211237"/>
          </a:xfrm>
          <a:prstGeom prst="rect">
            <a:avLst/>
          </a:prstGeom>
        </p:spPr>
      </p:pic>
      <p:sp>
        <p:nvSpPr>
          <p:cNvPr id="18" name="Text 12"/>
          <p:cNvSpPr/>
          <p:nvPr/>
        </p:nvSpPr>
        <p:spPr>
          <a:xfrm>
            <a:off x="6317100" y="4367411"/>
            <a:ext cx="2307076" cy="489148"/>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15213F"/>
                </a:solidFill>
                <a:latin typeface="Roboto Slab" pitchFamily="34" charset="0"/>
                <a:ea typeface="Roboto Slab" pitchFamily="34" charset="-122"/>
                <a:cs typeface="Roboto Slab" pitchFamily="34" charset="-120"/>
              </a:rPr>
              <a:t>Collection from Email &amp; WhatsApp</a:t>
            </a:r>
            <a:endParaRPr lang="en-US" sz="1500" dirty="0"/>
          </a:p>
        </p:txBody>
      </p:sp>
      <p:sp>
        <p:nvSpPr>
          <p:cNvPr id="19" name="Shape 13"/>
          <p:cNvSpPr/>
          <p:nvPr/>
        </p:nvSpPr>
        <p:spPr>
          <a:xfrm>
            <a:off x="8910216" y="3611761"/>
            <a:ext cx="2620004" cy="1401266"/>
          </a:xfrm>
          <a:prstGeom prst="roundRect">
            <a:avLst>
              <a:gd name="adj" fmla="val 1676"/>
            </a:avLst>
          </a:prstGeom>
          <a:solidFill>
            <a:srgbClr val="E9ECF2"/>
          </a:solidFill>
          <a:ln/>
        </p:spPr>
        <p:txBody>
          <a:bodyPr/>
          <a:lstStyle/>
          <a:p>
            <a:endParaRPr lang="he-IL"/>
          </a:p>
        </p:txBody>
      </p:sp>
      <p:sp>
        <p:nvSpPr>
          <p:cNvPr id="20" name="Shape 14"/>
          <p:cNvSpPr/>
          <p:nvPr/>
        </p:nvSpPr>
        <p:spPr>
          <a:xfrm>
            <a:off x="9066680" y="3768229"/>
            <a:ext cx="469591" cy="469602"/>
          </a:xfrm>
          <a:prstGeom prst="ellipse">
            <a:avLst/>
          </a:prstGeom>
          <a:solidFill>
            <a:srgbClr val="476FD6"/>
          </a:solidFill>
          <a:ln/>
        </p:spPr>
        <p:txBody>
          <a:bodyPr/>
          <a:lstStyle/>
          <a:p>
            <a:endParaRPr lang="he-IL"/>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95860" y="3897312"/>
            <a:ext cx="211231" cy="211237"/>
          </a:xfrm>
          <a:prstGeom prst="rect">
            <a:avLst/>
          </a:prstGeom>
        </p:spPr>
      </p:pic>
      <p:sp>
        <p:nvSpPr>
          <p:cNvPr id="22" name="Text 15"/>
          <p:cNvSpPr/>
          <p:nvPr/>
        </p:nvSpPr>
        <p:spPr>
          <a:xfrm>
            <a:off x="9066680" y="4367411"/>
            <a:ext cx="1956545" cy="244574"/>
          </a:xfrm>
          <a:prstGeom prst="rect">
            <a:avLst/>
          </a:prstGeom>
          <a:noFill/>
          <a:ln/>
        </p:spPr>
        <p:txBody>
          <a:bodyPr wrap="none" lIns="0" tIns="0" rIns="0" bIns="0" rtlCol="0" anchor="t"/>
          <a:lstStyle/>
          <a:p>
            <a:pPr marL="0" indent="0" algn="l">
              <a:lnSpc>
                <a:spcPct val="104000"/>
              </a:lnSpc>
              <a:buNone/>
            </a:pPr>
            <a:r>
              <a:rPr lang="en-US" sz="1500" dirty="0">
                <a:solidFill>
                  <a:srgbClr val="15213F"/>
                </a:solidFill>
                <a:latin typeface="Roboto Slab" pitchFamily="34" charset="0"/>
                <a:ea typeface="Roboto Slab" pitchFamily="34" charset="-122"/>
                <a:cs typeface="Roboto Slab" pitchFamily="34" charset="-120"/>
              </a:rPr>
              <a:t>OCR Data Extraction</a:t>
            </a:r>
            <a:endParaRPr lang="en-US" sz="1500" dirty="0"/>
          </a:p>
        </p:txBody>
      </p:sp>
      <p:sp>
        <p:nvSpPr>
          <p:cNvPr id="23" name="Shape 16"/>
          <p:cNvSpPr/>
          <p:nvPr/>
        </p:nvSpPr>
        <p:spPr>
          <a:xfrm>
            <a:off x="661475" y="5142607"/>
            <a:ext cx="5369584" cy="1156692"/>
          </a:xfrm>
          <a:prstGeom prst="roundRect">
            <a:avLst>
              <a:gd name="adj" fmla="val 2030"/>
            </a:avLst>
          </a:prstGeom>
          <a:solidFill>
            <a:srgbClr val="E9ECF2"/>
          </a:solidFill>
          <a:ln/>
        </p:spPr>
        <p:txBody>
          <a:bodyPr/>
          <a:lstStyle/>
          <a:p>
            <a:endParaRPr lang="he-IL"/>
          </a:p>
        </p:txBody>
      </p:sp>
      <p:sp>
        <p:nvSpPr>
          <p:cNvPr id="24" name="Shape 17"/>
          <p:cNvSpPr/>
          <p:nvPr/>
        </p:nvSpPr>
        <p:spPr>
          <a:xfrm>
            <a:off x="817939" y="5299075"/>
            <a:ext cx="469591" cy="469602"/>
          </a:xfrm>
          <a:prstGeom prst="ellipse">
            <a:avLst/>
          </a:prstGeom>
          <a:solidFill>
            <a:srgbClr val="476FD6"/>
          </a:solidFill>
          <a:ln/>
        </p:spPr>
        <p:txBody>
          <a:bodyPr/>
          <a:lstStyle/>
          <a:p>
            <a:endParaRPr lang="he-IL"/>
          </a:p>
        </p:txBody>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7118" y="5428159"/>
            <a:ext cx="211231" cy="211237"/>
          </a:xfrm>
          <a:prstGeom prst="rect">
            <a:avLst/>
          </a:prstGeom>
        </p:spPr>
      </p:pic>
      <p:sp>
        <p:nvSpPr>
          <p:cNvPr id="26" name="Text 18"/>
          <p:cNvSpPr/>
          <p:nvPr/>
        </p:nvSpPr>
        <p:spPr>
          <a:xfrm>
            <a:off x="817939" y="5898257"/>
            <a:ext cx="2755533" cy="244574"/>
          </a:xfrm>
          <a:prstGeom prst="rect">
            <a:avLst/>
          </a:prstGeom>
          <a:noFill/>
          <a:ln/>
        </p:spPr>
        <p:txBody>
          <a:bodyPr wrap="none" lIns="0" tIns="0" rIns="0" bIns="0" rtlCol="0" anchor="t"/>
          <a:lstStyle/>
          <a:p>
            <a:pPr marL="0" indent="0" algn="l">
              <a:lnSpc>
                <a:spcPct val="104000"/>
              </a:lnSpc>
              <a:buNone/>
            </a:pPr>
            <a:r>
              <a:rPr lang="en-US" sz="1500" dirty="0">
                <a:solidFill>
                  <a:srgbClr val="15213F"/>
                </a:solidFill>
                <a:latin typeface="Roboto Slab" pitchFamily="34" charset="0"/>
                <a:ea typeface="Roboto Slab" pitchFamily="34" charset="-122"/>
                <a:cs typeface="Roboto Slab" pitchFamily="34" charset="-120"/>
              </a:rPr>
              <a:t>Duplicate &amp; Missing Detection</a:t>
            </a:r>
            <a:endParaRPr lang="en-US" sz="1500" dirty="0"/>
          </a:p>
        </p:txBody>
      </p:sp>
      <p:sp>
        <p:nvSpPr>
          <p:cNvPr id="27" name="Shape 19"/>
          <p:cNvSpPr/>
          <p:nvPr/>
        </p:nvSpPr>
        <p:spPr>
          <a:xfrm>
            <a:off x="6160636" y="5142607"/>
            <a:ext cx="5369584" cy="1156692"/>
          </a:xfrm>
          <a:prstGeom prst="roundRect">
            <a:avLst>
              <a:gd name="adj" fmla="val 2030"/>
            </a:avLst>
          </a:prstGeom>
          <a:solidFill>
            <a:srgbClr val="E9ECF2"/>
          </a:solidFill>
          <a:ln/>
        </p:spPr>
        <p:txBody>
          <a:bodyPr/>
          <a:lstStyle/>
          <a:p>
            <a:endParaRPr lang="he-IL"/>
          </a:p>
        </p:txBody>
      </p:sp>
      <p:sp>
        <p:nvSpPr>
          <p:cNvPr id="28" name="Shape 20"/>
          <p:cNvSpPr/>
          <p:nvPr/>
        </p:nvSpPr>
        <p:spPr>
          <a:xfrm>
            <a:off x="6317100" y="5299075"/>
            <a:ext cx="469591" cy="469602"/>
          </a:xfrm>
          <a:prstGeom prst="ellipse">
            <a:avLst/>
          </a:prstGeom>
          <a:solidFill>
            <a:srgbClr val="476FD6"/>
          </a:solidFill>
          <a:ln/>
        </p:spPr>
        <p:txBody>
          <a:bodyPr/>
          <a:lstStyle/>
          <a:p>
            <a:endParaRPr lang="he-IL"/>
          </a:p>
        </p:txBody>
      </p:sp>
      <p:pic>
        <p:nvPicPr>
          <p:cNvPr id="2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46279" y="5428159"/>
            <a:ext cx="211231" cy="211237"/>
          </a:xfrm>
          <a:prstGeom prst="rect">
            <a:avLst/>
          </a:prstGeom>
        </p:spPr>
      </p:pic>
      <p:sp>
        <p:nvSpPr>
          <p:cNvPr id="30" name="Text 21"/>
          <p:cNvSpPr/>
          <p:nvPr/>
        </p:nvSpPr>
        <p:spPr>
          <a:xfrm>
            <a:off x="6317100" y="5898257"/>
            <a:ext cx="2335849" cy="244574"/>
          </a:xfrm>
          <a:prstGeom prst="rect">
            <a:avLst/>
          </a:prstGeom>
          <a:noFill/>
          <a:ln/>
        </p:spPr>
        <p:txBody>
          <a:bodyPr wrap="none" lIns="0" tIns="0" rIns="0" bIns="0" rtlCol="0" anchor="t"/>
          <a:lstStyle/>
          <a:p>
            <a:pPr marL="0" indent="0" algn="l">
              <a:lnSpc>
                <a:spcPct val="104000"/>
              </a:lnSpc>
              <a:buNone/>
            </a:pPr>
            <a:r>
              <a:rPr lang="en-US" sz="1500" dirty="0">
                <a:solidFill>
                  <a:srgbClr val="15213F"/>
                </a:solidFill>
                <a:latin typeface="Roboto Slab" pitchFamily="34" charset="0"/>
                <a:ea typeface="Roboto Slab" pitchFamily="34" charset="-122"/>
                <a:cs typeface="Roboto Slab" pitchFamily="34" charset="-120"/>
              </a:rPr>
              <a:t>Submission Notifications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42131"/>
            <a:ext cx="4522774" cy="489148"/>
          </a:xfrm>
          <a:prstGeom prst="rect">
            <a:avLst/>
          </a:prstGeom>
          <a:noFill/>
          <a:ln/>
        </p:spPr>
        <p:txBody>
          <a:bodyPr wrap="none" lIns="0" tIns="0" rIns="0" bIns="0" rtlCol="0" anchor="t"/>
          <a:lstStyle/>
          <a:p>
            <a:pPr marL="0" indent="0" algn="l">
              <a:lnSpc>
                <a:spcPct val="104000"/>
              </a:lnSpc>
              <a:buNone/>
            </a:pPr>
            <a:r>
              <a:rPr lang="en-US" sz="3050" b="1" dirty="0">
                <a:solidFill>
                  <a:srgbClr val="3257B8"/>
                </a:solidFill>
                <a:latin typeface="Roboto Slab Bold" pitchFamily="34" charset="0"/>
                <a:ea typeface="Roboto Slab Bold" pitchFamily="34" charset="-122"/>
                <a:cs typeface="Roboto Slab Bold" pitchFamily="34" charset="-120"/>
              </a:rPr>
              <a:t>FirmOffice System </a:t>
            </a:r>
            <a:endParaRPr lang="en-US" sz="3050" dirty="0"/>
          </a:p>
        </p:txBody>
      </p:sp>
      <p:pic>
        <p:nvPicPr>
          <p:cNvPr id="3" name="Image 0" descr="preencoded.png"/>
          <p:cNvPicPr>
            <a:picLocks noChangeAspect="1"/>
          </p:cNvPicPr>
          <p:nvPr/>
        </p:nvPicPr>
        <p:blipFill>
          <a:blip r:embed="rId3"/>
          <a:stretch>
            <a:fillRect/>
          </a:stretch>
        </p:blipFill>
        <p:spPr>
          <a:xfrm>
            <a:off x="1621690" y="1290538"/>
            <a:ext cx="8948315" cy="50252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52351"/>
            <a:ext cx="5808021" cy="498376"/>
          </a:xfrm>
          <a:prstGeom prst="rect">
            <a:avLst/>
          </a:prstGeom>
          <a:noFill/>
          <a:ln/>
        </p:spPr>
        <p:txBody>
          <a:bodyPr wrap="none" lIns="0" tIns="0" rIns="0" bIns="0" rtlCol="0" anchor="t"/>
          <a:lstStyle/>
          <a:p>
            <a:pPr marL="0" indent="0" algn="l">
              <a:lnSpc>
                <a:spcPct val="104000"/>
              </a:lnSpc>
              <a:buNone/>
            </a:pPr>
            <a:r>
              <a:rPr lang="en-US" sz="3100" b="1" dirty="0">
                <a:solidFill>
                  <a:srgbClr val="3257B8"/>
                </a:solidFill>
                <a:latin typeface="Roboto Slab Bold" pitchFamily="34" charset="0"/>
                <a:ea typeface="Roboto Slab Bold" pitchFamily="34" charset="-122"/>
                <a:cs typeface="Roboto Slab Bold" pitchFamily="34" charset="-120"/>
              </a:rPr>
              <a:t>Systems Main Components</a:t>
            </a:r>
            <a:endParaRPr lang="en-US" sz="3100" dirty="0"/>
          </a:p>
        </p:txBody>
      </p:sp>
      <p:sp>
        <p:nvSpPr>
          <p:cNvPr id="3" name="Shape 1"/>
          <p:cNvSpPr/>
          <p:nvPr/>
        </p:nvSpPr>
        <p:spPr>
          <a:xfrm>
            <a:off x="661475" y="1319808"/>
            <a:ext cx="10868745" cy="4985742"/>
          </a:xfrm>
          <a:prstGeom prst="roundRect">
            <a:avLst>
              <a:gd name="adj" fmla="val 480"/>
            </a:avLst>
          </a:prstGeom>
          <a:noFill/>
          <a:ln w="6350">
            <a:solidFill>
              <a:srgbClr val="000000">
                <a:alpha val="8000"/>
              </a:srgbClr>
            </a:solidFill>
            <a:prstDash val="solid"/>
          </a:ln>
        </p:spPr>
        <p:txBody>
          <a:bodyPr/>
          <a:lstStyle/>
          <a:p>
            <a:endParaRPr lang="he-IL"/>
          </a:p>
        </p:txBody>
      </p:sp>
      <p:sp>
        <p:nvSpPr>
          <p:cNvPr id="4" name="Shape 2"/>
          <p:cNvSpPr/>
          <p:nvPr/>
        </p:nvSpPr>
        <p:spPr>
          <a:xfrm>
            <a:off x="667924" y="1326158"/>
            <a:ext cx="3225322" cy="1196280"/>
          </a:xfrm>
          <a:prstGeom prst="rect">
            <a:avLst/>
          </a:prstGeom>
          <a:solidFill>
            <a:srgbClr val="FFFFFF"/>
          </a:solidFill>
          <a:ln/>
        </p:spPr>
        <p:txBody>
          <a:bodyPr/>
          <a:lstStyle/>
          <a:p>
            <a:endParaRPr lang="he-IL"/>
          </a:p>
        </p:txBody>
      </p:sp>
      <p:pic>
        <p:nvPicPr>
          <p:cNvPr id="5" name="Image 0" descr="preencoded.png"/>
          <p:cNvPicPr>
            <a:picLocks noChangeAspect="1"/>
          </p:cNvPicPr>
          <p:nvPr/>
        </p:nvPicPr>
        <p:blipFill>
          <a:blip r:embed="rId3"/>
          <a:stretch>
            <a:fillRect/>
          </a:stretch>
        </p:blipFill>
        <p:spPr>
          <a:xfrm>
            <a:off x="1512552" y="1413173"/>
            <a:ext cx="1532792" cy="1019076"/>
          </a:xfrm>
          <a:prstGeom prst="rect">
            <a:avLst/>
          </a:prstGeom>
        </p:spPr>
      </p:pic>
      <p:sp>
        <p:nvSpPr>
          <p:cNvPr id="6" name="Shape 3"/>
          <p:cNvSpPr/>
          <p:nvPr/>
        </p:nvSpPr>
        <p:spPr>
          <a:xfrm>
            <a:off x="3893246" y="1326158"/>
            <a:ext cx="7630624" cy="1196280"/>
          </a:xfrm>
          <a:prstGeom prst="rect">
            <a:avLst/>
          </a:prstGeom>
          <a:solidFill>
            <a:srgbClr val="FFFFFF"/>
          </a:solidFill>
          <a:ln/>
        </p:spPr>
        <p:txBody>
          <a:bodyPr/>
          <a:lstStyle/>
          <a:p>
            <a:endParaRPr lang="he-IL"/>
          </a:p>
        </p:txBody>
      </p:sp>
      <p:sp>
        <p:nvSpPr>
          <p:cNvPr id="7" name="Text 4"/>
          <p:cNvSpPr/>
          <p:nvPr/>
        </p:nvSpPr>
        <p:spPr>
          <a:xfrm>
            <a:off x="4055862" y="1413173"/>
            <a:ext cx="7308568" cy="786011"/>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dirty="0">
                <a:solidFill>
                  <a:srgbClr val="272525"/>
                </a:solidFill>
                <a:latin typeface="Roboto" pitchFamily="34" charset="0"/>
                <a:ea typeface="Roboto" pitchFamily="34" charset="-122"/>
                <a:cs typeface="Roboto" pitchFamily="34" charset="-120"/>
              </a:rPr>
              <a:t>OCR for Extracting data from the documents</a:t>
            </a:r>
            <a:endParaRPr lang="en-US" sz="1250" dirty="0"/>
          </a:p>
          <a:p>
            <a:pPr marL="254000" indent="-254000" algn="l">
              <a:lnSpc>
                <a:spcPct val="123000"/>
              </a:lnSpc>
              <a:buSzPct val="100000"/>
              <a:buChar char="•"/>
            </a:pPr>
            <a:r>
              <a:rPr lang="en-US" sz="1250" dirty="0">
                <a:solidFill>
                  <a:srgbClr val="272525"/>
                </a:solidFill>
                <a:latin typeface="Roboto" pitchFamily="34" charset="0"/>
                <a:ea typeface="Roboto" pitchFamily="34" charset="-122"/>
                <a:cs typeface="Roboto" pitchFamily="34" charset="-120"/>
              </a:rPr>
              <a:t>Making information accessible to accountants</a:t>
            </a:r>
            <a:endParaRPr lang="en-US" sz="1250" dirty="0"/>
          </a:p>
          <a:p>
            <a:pPr marL="254000" indent="-254000" algn="l">
              <a:lnSpc>
                <a:spcPct val="123000"/>
              </a:lnSpc>
              <a:buSzPct val="100000"/>
              <a:buChar char="•"/>
            </a:pPr>
            <a:r>
              <a:rPr lang="en-US" sz="1250" dirty="0">
                <a:solidFill>
                  <a:srgbClr val="272525"/>
                </a:solidFill>
                <a:latin typeface="Roboto" pitchFamily="34" charset="0"/>
                <a:ea typeface="Roboto" pitchFamily="34" charset="-122"/>
                <a:cs typeface="Roboto" pitchFamily="34" charset="-120"/>
              </a:rPr>
              <a:t>With </a:t>
            </a:r>
            <a:r>
              <a:rPr lang="en-US" sz="1250" b="1" dirty="0">
                <a:solidFill>
                  <a:srgbClr val="272525"/>
                </a:solidFill>
                <a:latin typeface="Roboto Bold" pitchFamily="34" charset="0"/>
                <a:ea typeface="Roboto Bold" pitchFamily="34" charset="-122"/>
                <a:cs typeface="Roboto Bold" pitchFamily="34" charset="-120"/>
              </a:rPr>
              <a:t>Google cloud vision</a:t>
            </a:r>
            <a:r>
              <a:rPr lang="en-US" sz="1250" dirty="0">
                <a:solidFill>
                  <a:srgbClr val="272525"/>
                </a:solidFill>
                <a:latin typeface="Roboto" pitchFamily="34" charset="0"/>
                <a:ea typeface="Roboto" pitchFamily="34" charset="-122"/>
                <a:cs typeface="Roboto" pitchFamily="34" charset="-120"/>
              </a:rPr>
              <a:t> </a:t>
            </a:r>
            <a:r>
              <a:rPr lang="en-US" sz="1250" b="1" dirty="0">
                <a:solidFill>
                  <a:srgbClr val="272525"/>
                </a:solidFill>
                <a:latin typeface="Roboto Bold" pitchFamily="34" charset="0"/>
                <a:ea typeface="Roboto Bold" pitchFamily="34" charset="-122"/>
                <a:cs typeface="Roboto Bold" pitchFamily="34" charset="-120"/>
              </a:rPr>
              <a:t>API</a:t>
            </a:r>
            <a:endParaRPr lang="en-US" sz="1250" dirty="0"/>
          </a:p>
        </p:txBody>
      </p:sp>
      <p:sp>
        <p:nvSpPr>
          <p:cNvPr id="8" name="Shape 5"/>
          <p:cNvSpPr/>
          <p:nvPr/>
        </p:nvSpPr>
        <p:spPr>
          <a:xfrm>
            <a:off x="667924" y="2522438"/>
            <a:ext cx="3225322" cy="1113036"/>
          </a:xfrm>
          <a:prstGeom prst="rect">
            <a:avLst/>
          </a:prstGeom>
          <a:solidFill>
            <a:srgbClr val="FFFFFF"/>
          </a:solidFill>
          <a:ln/>
        </p:spPr>
        <p:txBody>
          <a:bodyPr/>
          <a:lstStyle/>
          <a:p>
            <a:endParaRPr lang="he-IL"/>
          </a:p>
        </p:txBody>
      </p:sp>
      <p:pic>
        <p:nvPicPr>
          <p:cNvPr id="9" name="Image 1" descr="preencoded.png"/>
          <p:cNvPicPr>
            <a:picLocks noChangeAspect="1"/>
          </p:cNvPicPr>
          <p:nvPr/>
        </p:nvPicPr>
        <p:blipFill>
          <a:blip r:embed="rId4"/>
          <a:stretch>
            <a:fillRect/>
          </a:stretch>
        </p:blipFill>
        <p:spPr>
          <a:xfrm>
            <a:off x="1835997" y="2612628"/>
            <a:ext cx="886001" cy="932656"/>
          </a:xfrm>
          <a:prstGeom prst="rect">
            <a:avLst/>
          </a:prstGeom>
        </p:spPr>
      </p:pic>
      <p:sp>
        <p:nvSpPr>
          <p:cNvPr id="10" name="Shape 6"/>
          <p:cNvSpPr/>
          <p:nvPr/>
        </p:nvSpPr>
        <p:spPr>
          <a:xfrm>
            <a:off x="3893246" y="2522438"/>
            <a:ext cx="7630624" cy="1113036"/>
          </a:xfrm>
          <a:prstGeom prst="rect">
            <a:avLst/>
          </a:prstGeom>
          <a:solidFill>
            <a:srgbClr val="FFFFFF"/>
          </a:solidFill>
          <a:ln/>
        </p:spPr>
        <p:txBody>
          <a:bodyPr/>
          <a:lstStyle/>
          <a:p>
            <a:endParaRPr lang="he-IL"/>
          </a:p>
        </p:txBody>
      </p:sp>
      <p:sp>
        <p:nvSpPr>
          <p:cNvPr id="11" name="Text 7"/>
          <p:cNvSpPr/>
          <p:nvPr/>
        </p:nvSpPr>
        <p:spPr>
          <a:xfrm>
            <a:off x="4055862" y="2612628"/>
            <a:ext cx="7308568" cy="510580"/>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b="1" dirty="0">
                <a:solidFill>
                  <a:srgbClr val="272525"/>
                </a:solidFill>
                <a:latin typeface="Roboto Bold" pitchFamily="34" charset="0"/>
                <a:ea typeface="Roboto Bold" pitchFamily="34" charset="-122"/>
                <a:cs typeface="Roboto Bold" pitchFamily="34" charset="-120"/>
              </a:rPr>
              <a:t>Firestore</a:t>
            </a:r>
            <a:r>
              <a:rPr lang="en-US" sz="1250" dirty="0">
                <a:solidFill>
                  <a:srgbClr val="272525"/>
                </a:solidFill>
                <a:latin typeface="Roboto" pitchFamily="34" charset="0"/>
                <a:ea typeface="Roboto" pitchFamily="34" charset="-122"/>
                <a:cs typeface="Roboto" pitchFamily="34" charset="-120"/>
              </a:rPr>
              <a:t> stores structured system data</a:t>
            </a:r>
            <a:endParaRPr lang="en-US" sz="1250" dirty="0"/>
          </a:p>
          <a:p>
            <a:pPr marL="254000" indent="-254000" algn="l">
              <a:lnSpc>
                <a:spcPct val="123000"/>
              </a:lnSpc>
              <a:buSzPct val="100000"/>
              <a:buChar char="•"/>
            </a:pPr>
            <a:r>
              <a:rPr lang="en-US" sz="1250" b="1" dirty="0">
                <a:solidFill>
                  <a:srgbClr val="272525"/>
                </a:solidFill>
                <a:latin typeface="Roboto Bold" pitchFamily="34" charset="0"/>
                <a:ea typeface="Roboto Bold" pitchFamily="34" charset="-122"/>
                <a:cs typeface="Roboto Bold" pitchFamily="34" charset="-120"/>
              </a:rPr>
              <a:t>Cloud Storage</a:t>
            </a:r>
            <a:r>
              <a:rPr lang="en-US" sz="1250" dirty="0">
                <a:solidFill>
                  <a:srgbClr val="272525"/>
                </a:solidFill>
                <a:latin typeface="Roboto" pitchFamily="34" charset="0"/>
                <a:ea typeface="Roboto" pitchFamily="34" charset="-122"/>
                <a:cs typeface="Roboto" pitchFamily="34" charset="-120"/>
              </a:rPr>
              <a:t> securely stores the original uploaded files</a:t>
            </a:r>
            <a:endParaRPr lang="en-US" sz="1250" dirty="0"/>
          </a:p>
        </p:txBody>
      </p:sp>
      <p:sp>
        <p:nvSpPr>
          <p:cNvPr id="12" name="Shape 8"/>
          <p:cNvSpPr/>
          <p:nvPr/>
        </p:nvSpPr>
        <p:spPr>
          <a:xfrm>
            <a:off x="667924" y="3635474"/>
            <a:ext cx="3225322" cy="1275854"/>
          </a:xfrm>
          <a:prstGeom prst="rect">
            <a:avLst/>
          </a:prstGeom>
          <a:solidFill>
            <a:srgbClr val="FFFFFF"/>
          </a:solidFill>
          <a:ln/>
        </p:spPr>
        <p:txBody>
          <a:bodyPr/>
          <a:lstStyle/>
          <a:p>
            <a:endParaRPr lang="he-IL"/>
          </a:p>
        </p:txBody>
      </p:sp>
      <p:pic>
        <p:nvPicPr>
          <p:cNvPr id="13" name="Image 2" descr="preencoded.png"/>
          <p:cNvPicPr>
            <a:picLocks noChangeAspect="1"/>
          </p:cNvPicPr>
          <p:nvPr/>
        </p:nvPicPr>
        <p:blipFill>
          <a:blip r:embed="rId5"/>
          <a:stretch>
            <a:fillRect/>
          </a:stretch>
        </p:blipFill>
        <p:spPr>
          <a:xfrm>
            <a:off x="1889177" y="3725664"/>
            <a:ext cx="779641" cy="779661"/>
          </a:xfrm>
          <a:prstGeom prst="rect">
            <a:avLst/>
          </a:prstGeom>
        </p:spPr>
      </p:pic>
      <p:sp>
        <p:nvSpPr>
          <p:cNvPr id="14" name="Text 9"/>
          <p:cNvSpPr/>
          <p:nvPr/>
        </p:nvSpPr>
        <p:spPr>
          <a:xfrm>
            <a:off x="522572" y="4585990"/>
            <a:ext cx="3512851" cy="235148"/>
          </a:xfrm>
          <a:prstGeom prst="rect">
            <a:avLst/>
          </a:prstGeom>
          <a:noFill/>
          <a:ln/>
        </p:spPr>
        <p:txBody>
          <a:bodyPr wrap="none" lIns="0" tIns="0" rIns="0" bIns="0" rtlCol="0" anchor="t"/>
          <a:lstStyle/>
          <a:p>
            <a:pPr marL="0" indent="0" algn="ctr">
              <a:lnSpc>
                <a:spcPct val="123000"/>
              </a:lnSpc>
              <a:buNone/>
            </a:pPr>
            <a:r>
              <a:rPr lang="en-US" sz="1250" b="1" dirty="0">
                <a:solidFill>
                  <a:srgbClr val="808080"/>
                </a:solidFill>
                <a:latin typeface="Roboto Bold" pitchFamily="34" charset="0"/>
                <a:ea typeface="Roboto Bold" pitchFamily="34" charset="-122"/>
                <a:cs typeface="Roboto Bold" pitchFamily="34" charset="-120"/>
              </a:rPr>
              <a:t>Gmail API</a:t>
            </a:r>
            <a:endParaRPr lang="en-US" sz="1250" dirty="0"/>
          </a:p>
        </p:txBody>
      </p:sp>
      <p:sp>
        <p:nvSpPr>
          <p:cNvPr id="15" name="Shape 10"/>
          <p:cNvSpPr/>
          <p:nvPr/>
        </p:nvSpPr>
        <p:spPr>
          <a:xfrm>
            <a:off x="3893246" y="3635474"/>
            <a:ext cx="7630624" cy="1275854"/>
          </a:xfrm>
          <a:prstGeom prst="rect">
            <a:avLst/>
          </a:prstGeom>
          <a:solidFill>
            <a:srgbClr val="FFFFFF"/>
          </a:solidFill>
          <a:ln/>
        </p:spPr>
        <p:txBody>
          <a:bodyPr/>
          <a:lstStyle/>
          <a:p>
            <a:endParaRPr lang="he-IL"/>
          </a:p>
        </p:txBody>
      </p:sp>
      <p:sp>
        <p:nvSpPr>
          <p:cNvPr id="16" name="Text 11"/>
          <p:cNvSpPr/>
          <p:nvPr/>
        </p:nvSpPr>
        <p:spPr>
          <a:xfrm>
            <a:off x="4055862" y="3725664"/>
            <a:ext cx="7308568" cy="786011"/>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b="1" dirty="0">
                <a:solidFill>
                  <a:srgbClr val="272525"/>
                </a:solidFill>
                <a:latin typeface="Roboto Bold" pitchFamily="34" charset="0"/>
                <a:ea typeface="Roboto Bold" pitchFamily="34" charset="-122"/>
                <a:cs typeface="Roboto Bold" pitchFamily="34" charset="-120"/>
              </a:rPr>
              <a:t>Retrieves incoming</a:t>
            </a:r>
            <a:r>
              <a:rPr lang="en-US" sz="1250" dirty="0">
                <a:solidFill>
                  <a:srgbClr val="272525"/>
                </a:solidFill>
                <a:latin typeface="Roboto" pitchFamily="34" charset="0"/>
                <a:ea typeface="Roboto" pitchFamily="34" charset="-122"/>
                <a:cs typeface="Roboto" pitchFamily="34" charset="-120"/>
              </a:rPr>
              <a:t> emails and attachments from the firm clients</a:t>
            </a:r>
            <a:endParaRPr lang="en-US" sz="1250" dirty="0"/>
          </a:p>
          <a:p>
            <a:pPr marL="254000" indent="-254000" algn="l">
              <a:lnSpc>
                <a:spcPct val="123000"/>
              </a:lnSpc>
              <a:buSzPct val="100000"/>
              <a:buChar char="•"/>
            </a:pPr>
            <a:r>
              <a:rPr lang="en-US" sz="1250" b="1" dirty="0">
                <a:solidFill>
                  <a:srgbClr val="15213F"/>
                </a:solidFill>
                <a:latin typeface="Roboto Bold" pitchFamily="34" charset="0"/>
                <a:ea typeface="Roboto Bold" pitchFamily="34" charset="-122"/>
                <a:cs typeface="Roboto Bold" pitchFamily="34" charset="-120"/>
              </a:rPr>
              <a:t>Extracts financial documents sent by clients via email</a:t>
            </a:r>
            <a:endParaRPr lang="en-US" sz="1250" dirty="0"/>
          </a:p>
          <a:p>
            <a:pPr marL="254000" indent="-254000" algn="l">
              <a:lnSpc>
                <a:spcPct val="123000"/>
              </a:lnSpc>
              <a:buSzPct val="100000"/>
              <a:buChar char="•"/>
            </a:pPr>
            <a:r>
              <a:rPr lang="en-US" sz="1250" dirty="0">
                <a:solidFill>
                  <a:srgbClr val="272525"/>
                </a:solidFill>
                <a:latin typeface="Roboto" pitchFamily="34" charset="0"/>
                <a:ea typeface="Roboto" pitchFamily="34" charset="-122"/>
                <a:cs typeface="Roboto" pitchFamily="34" charset="-120"/>
              </a:rPr>
              <a:t>With </a:t>
            </a:r>
            <a:r>
              <a:rPr lang="en-US" sz="1250" b="1" dirty="0">
                <a:solidFill>
                  <a:srgbClr val="272525"/>
                </a:solidFill>
                <a:latin typeface="Roboto Bold" pitchFamily="34" charset="0"/>
                <a:ea typeface="Roboto Bold" pitchFamily="34" charset="-122"/>
                <a:cs typeface="Roboto Bold" pitchFamily="34" charset="-120"/>
              </a:rPr>
              <a:t>Gmail API</a:t>
            </a:r>
            <a:endParaRPr lang="en-US" sz="1250" dirty="0"/>
          </a:p>
        </p:txBody>
      </p:sp>
      <p:pic>
        <p:nvPicPr>
          <p:cNvPr id="17" name="Image 3" descr="preencoded.png"/>
          <p:cNvPicPr>
            <a:picLocks noChangeAspect="1"/>
          </p:cNvPicPr>
          <p:nvPr/>
        </p:nvPicPr>
        <p:blipFill>
          <a:blip r:embed="rId6"/>
          <a:stretch>
            <a:fillRect/>
          </a:stretch>
        </p:blipFill>
        <p:spPr>
          <a:xfrm>
            <a:off x="1765057" y="5001518"/>
            <a:ext cx="1027781" cy="894854"/>
          </a:xfrm>
          <a:prstGeom prst="rect">
            <a:avLst/>
          </a:prstGeom>
        </p:spPr>
      </p:pic>
      <p:sp>
        <p:nvSpPr>
          <p:cNvPr id="18" name="Text 12"/>
          <p:cNvSpPr/>
          <p:nvPr/>
        </p:nvSpPr>
        <p:spPr>
          <a:xfrm>
            <a:off x="522572" y="5977037"/>
            <a:ext cx="3512851" cy="235148"/>
          </a:xfrm>
          <a:prstGeom prst="rect">
            <a:avLst/>
          </a:prstGeom>
          <a:noFill/>
          <a:ln/>
        </p:spPr>
        <p:txBody>
          <a:bodyPr wrap="none" lIns="0" tIns="0" rIns="0" bIns="0" rtlCol="0" anchor="t"/>
          <a:lstStyle/>
          <a:p>
            <a:pPr marL="0" indent="0" algn="ctr">
              <a:lnSpc>
                <a:spcPct val="123000"/>
              </a:lnSpc>
              <a:buNone/>
            </a:pPr>
            <a:r>
              <a:rPr lang="en-US" sz="1250" b="1" dirty="0">
                <a:solidFill>
                  <a:srgbClr val="808080"/>
                </a:solidFill>
                <a:latin typeface="Roboto Bold" pitchFamily="34" charset="0"/>
                <a:ea typeface="Roboto Bold" pitchFamily="34" charset="-122"/>
                <a:cs typeface="Roboto Bold" pitchFamily="34" charset="-120"/>
              </a:rPr>
              <a:t>Webhook</a:t>
            </a:r>
            <a:endParaRPr lang="en-US" sz="1250" dirty="0"/>
          </a:p>
        </p:txBody>
      </p:sp>
      <p:sp>
        <p:nvSpPr>
          <p:cNvPr id="19" name="Text 13"/>
          <p:cNvSpPr/>
          <p:nvPr/>
        </p:nvSpPr>
        <p:spPr>
          <a:xfrm>
            <a:off x="4055862" y="5001518"/>
            <a:ext cx="7308568" cy="786011"/>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dirty="0">
                <a:solidFill>
                  <a:srgbClr val="15213F"/>
                </a:solidFill>
                <a:latin typeface="Roboto" pitchFamily="34" charset="0"/>
                <a:ea typeface="Roboto" pitchFamily="34" charset="-122"/>
                <a:cs typeface="Roboto" pitchFamily="34" charset="-120"/>
              </a:rPr>
              <a:t>Receives documents sent by clients through a central WhatsApp Business account</a:t>
            </a:r>
            <a:endParaRPr lang="en-US" sz="1250" dirty="0"/>
          </a:p>
          <a:p>
            <a:pPr marL="254000" indent="-254000" algn="l">
              <a:lnSpc>
                <a:spcPct val="123000"/>
              </a:lnSpc>
              <a:buSzPct val="100000"/>
              <a:buChar char="•"/>
            </a:pPr>
            <a:r>
              <a:rPr lang="en-US" sz="1250" dirty="0">
                <a:solidFill>
                  <a:srgbClr val="15213F"/>
                </a:solidFill>
                <a:latin typeface="Roboto" pitchFamily="34" charset="0"/>
                <a:ea typeface="Roboto" pitchFamily="34" charset="-122"/>
                <a:cs typeface="Roboto" pitchFamily="34" charset="-120"/>
              </a:rPr>
              <a:t>Sends the documents into the system</a:t>
            </a:r>
            <a:endParaRPr lang="en-US" sz="1250" dirty="0"/>
          </a:p>
          <a:p>
            <a:pPr marL="254000" indent="-254000" algn="l">
              <a:lnSpc>
                <a:spcPct val="123000"/>
              </a:lnSpc>
              <a:buSzPct val="100000"/>
              <a:buChar char="•"/>
            </a:pPr>
            <a:r>
              <a:rPr lang="en-US" sz="1250" dirty="0">
                <a:solidFill>
                  <a:srgbClr val="15213F"/>
                </a:solidFill>
                <a:latin typeface="Roboto" pitchFamily="34" charset="0"/>
                <a:ea typeface="Roboto" pitchFamily="34" charset="-122"/>
                <a:cs typeface="Roboto" pitchFamily="34" charset="-120"/>
              </a:rPr>
              <a:t>Using </a:t>
            </a:r>
            <a:r>
              <a:rPr lang="en-US" sz="1250" b="1" dirty="0">
                <a:solidFill>
                  <a:srgbClr val="15213F"/>
                </a:solidFill>
                <a:latin typeface="Roboto Bold" pitchFamily="34" charset="0"/>
                <a:ea typeface="Roboto Bold" pitchFamily="34" charset="-122"/>
                <a:cs typeface="Roboto Bold" pitchFamily="34" charset="-120"/>
              </a:rPr>
              <a:t>WhatsApp Webhook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19807"/>
            <a:ext cx="4079773" cy="433784"/>
          </a:xfrm>
          <a:prstGeom prst="rect">
            <a:avLst/>
          </a:prstGeom>
          <a:noFill/>
          <a:ln/>
        </p:spPr>
        <p:txBody>
          <a:bodyPr wrap="none" lIns="0" tIns="0" rIns="0" bIns="0" rtlCol="0" anchor="t"/>
          <a:lstStyle/>
          <a:p>
            <a:pPr marL="0" indent="0" algn="l">
              <a:lnSpc>
                <a:spcPct val="104000"/>
              </a:lnSpc>
              <a:buNone/>
            </a:pPr>
            <a:r>
              <a:rPr lang="en-US" sz="2700" b="1" dirty="0">
                <a:solidFill>
                  <a:srgbClr val="3257B8"/>
                </a:solidFill>
                <a:latin typeface="Roboto Slab Bold" pitchFamily="34" charset="0"/>
                <a:ea typeface="Roboto Slab Bold" pitchFamily="34" charset="-122"/>
                <a:cs typeface="Roboto Slab Bold" pitchFamily="34" charset="-120"/>
              </a:rPr>
              <a:t>Use Case Diagram </a:t>
            </a:r>
            <a:endParaRPr lang="en-US" sz="2700" dirty="0"/>
          </a:p>
        </p:txBody>
      </p:sp>
      <p:pic>
        <p:nvPicPr>
          <p:cNvPr id="3" name="Image 0" descr="preencoded.png"/>
          <p:cNvPicPr>
            <a:picLocks noChangeAspect="1"/>
          </p:cNvPicPr>
          <p:nvPr/>
        </p:nvPicPr>
        <p:blipFill>
          <a:blip r:embed="rId3"/>
          <a:stretch>
            <a:fillRect/>
          </a:stretch>
        </p:blipFill>
        <p:spPr>
          <a:xfrm>
            <a:off x="2609487" y="1157387"/>
            <a:ext cx="6972622" cy="51414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519807"/>
            <a:ext cx="4005956" cy="424458"/>
          </a:xfrm>
          <a:prstGeom prst="rect">
            <a:avLst/>
          </a:prstGeom>
          <a:noFill/>
          <a:ln/>
        </p:spPr>
        <p:txBody>
          <a:bodyPr wrap="none" lIns="0" tIns="0" rIns="0" bIns="0" rtlCol="0" anchor="t"/>
          <a:lstStyle/>
          <a:p>
            <a:pPr marL="0" indent="0" algn="l">
              <a:lnSpc>
                <a:spcPct val="104000"/>
              </a:lnSpc>
              <a:buNone/>
            </a:pPr>
            <a:r>
              <a:rPr lang="en-US" sz="2650" b="1" dirty="0">
                <a:solidFill>
                  <a:srgbClr val="3257B8"/>
                </a:solidFill>
                <a:latin typeface="Roboto Slab Bold" pitchFamily="34" charset="0"/>
                <a:ea typeface="Roboto Slab Bold" pitchFamily="34" charset="-122"/>
                <a:cs typeface="Roboto Slab Bold" pitchFamily="34" charset="-120"/>
              </a:rPr>
              <a:t>Activity Diagram</a:t>
            </a:r>
            <a:endParaRPr lang="en-US" sz="2650" dirty="0"/>
          </a:p>
        </p:txBody>
      </p:sp>
      <p:pic>
        <p:nvPicPr>
          <p:cNvPr id="3" name="Image 0" descr="preencoded.png"/>
          <p:cNvPicPr>
            <a:picLocks noChangeAspect="1"/>
          </p:cNvPicPr>
          <p:nvPr/>
        </p:nvPicPr>
        <p:blipFill>
          <a:blip r:embed="rId3"/>
          <a:stretch>
            <a:fillRect/>
          </a:stretch>
        </p:blipFill>
        <p:spPr>
          <a:xfrm>
            <a:off x="2643221" y="1139527"/>
            <a:ext cx="6905254" cy="4834632"/>
          </a:xfrm>
          <a:prstGeom prst="rect">
            <a:avLst/>
          </a:prstGeom>
        </p:spPr>
      </p:pic>
      <p:sp>
        <p:nvSpPr>
          <p:cNvPr id="4" name="Text 1"/>
          <p:cNvSpPr/>
          <p:nvPr/>
        </p:nvSpPr>
        <p:spPr>
          <a:xfrm>
            <a:off x="661475" y="6083995"/>
            <a:ext cx="11478330" cy="186730"/>
          </a:xfrm>
          <a:prstGeom prst="rect">
            <a:avLst/>
          </a:prstGeom>
          <a:noFill/>
          <a:ln/>
        </p:spPr>
        <p:txBody>
          <a:bodyPr wrap="none" lIns="0" tIns="0" rIns="0" bIns="0" rtlCol="0" anchor="t"/>
          <a:lstStyle/>
          <a:p>
            <a:pPr marL="0" indent="0" algn="l">
              <a:lnSpc>
                <a:spcPct val="115000"/>
              </a:lnSpc>
              <a:buNone/>
            </a:pP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519807"/>
            <a:ext cx="6315512" cy="713184"/>
          </a:xfrm>
          <a:prstGeom prst="rect">
            <a:avLst/>
          </a:prstGeom>
          <a:noFill/>
          <a:ln/>
        </p:spPr>
        <p:txBody>
          <a:bodyPr wrap="none" lIns="0" tIns="0" rIns="0" bIns="0" rtlCol="0" anchor="t"/>
          <a:lstStyle/>
          <a:p>
            <a:pPr marL="0" indent="0" algn="l">
              <a:lnSpc>
                <a:spcPct val="104000"/>
              </a:lnSpc>
              <a:buNone/>
            </a:pPr>
            <a:r>
              <a:rPr lang="en-US" sz="4450" b="1" dirty="0">
                <a:solidFill>
                  <a:srgbClr val="3257B8"/>
                </a:solidFill>
                <a:latin typeface="Roboto Slab Bold" pitchFamily="34" charset="0"/>
                <a:ea typeface="Roboto Slab Bold" pitchFamily="34" charset="-122"/>
                <a:cs typeface="Roboto Slab Bold" pitchFamily="34" charset="-120"/>
              </a:rPr>
              <a:t>System Architecture</a:t>
            </a:r>
            <a:endParaRPr lang="en-US" sz="4450" dirty="0"/>
          </a:p>
        </p:txBody>
      </p:sp>
      <p:sp>
        <p:nvSpPr>
          <p:cNvPr id="4" name="Text 1"/>
          <p:cNvSpPr/>
          <p:nvPr/>
        </p:nvSpPr>
        <p:spPr>
          <a:xfrm>
            <a:off x="661475" y="6041529"/>
            <a:ext cx="11478330" cy="248047"/>
          </a:xfrm>
          <a:prstGeom prst="rect">
            <a:avLst/>
          </a:prstGeom>
          <a:noFill/>
          <a:ln/>
        </p:spPr>
        <p:txBody>
          <a:bodyPr wrap="none" lIns="0" tIns="0" rIns="0" bIns="0" rtlCol="0" anchor="t"/>
          <a:lstStyle/>
          <a:p>
            <a:pPr marL="0" indent="0" algn="l">
              <a:lnSpc>
                <a:spcPct val="125000"/>
              </a:lnSpc>
              <a:buNone/>
            </a:pPr>
            <a:endParaRPr lang="en-US" sz="1300" dirty="0"/>
          </a:p>
        </p:txBody>
      </p:sp>
      <p:pic>
        <p:nvPicPr>
          <p:cNvPr id="6" name="תמונה 5">
            <a:extLst>
              <a:ext uri="{FF2B5EF4-FFF2-40B4-BE49-F238E27FC236}">
                <a16:creationId xmlns:a16="http://schemas.microsoft.com/office/drawing/2014/main" id="{1F3F95A7-8449-3660-F79D-0F1CCD54687F}"/>
              </a:ext>
            </a:extLst>
          </p:cNvPr>
          <p:cNvPicPr>
            <a:picLocks noChangeAspect="1"/>
          </p:cNvPicPr>
          <p:nvPr/>
        </p:nvPicPr>
        <p:blipFill>
          <a:blip r:embed="rId3"/>
          <a:srcRect b="12909"/>
          <a:stretch>
            <a:fillRect/>
          </a:stretch>
        </p:blipFill>
        <p:spPr>
          <a:xfrm>
            <a:off x="983659" y="1280652"/>
            <a:ext cx="10224682" cy="5008924"/>
          </a:xfrm>
          <a:prstGeom prst="rect">
            <a:avLst/>
          </a:prstGeom>
        </p:spPr>
      </p:pic>
      <p:sp>
        <p:nvSpPr>
          <p:cNvPr id="8" name="מלבן 7">
            <a:extLst>
              <a:ext uri="{FF2B5EF4-FFF2-40B4-BE49-F238E27FC236}">
                <a16:creationId xmlns:a16="http://schemas.microsoft.com/office/drawing/2014/main" id="{F8026327-182F-98B2-0DFB-F5895AE5D956}"/>
              </a:ext>
            </a:extLst>
          </p:cNvPr>
          <p:cNvSpPr/>
          <p:nvPr/>
        </p:nvSpPr>
        <p:spPr>
          <a:xfrm>
            <a:off x="9507255" y="2592888"/>
            <a:ext cx="926926" cy="4133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581422"/>
            <a:ext cx="3784505" cy="396875"/>
          </a:xfrm>
          <a:prstGeom prst="rect">
            <a:avLst/>
          </a:prstGeom>
          <a:noFill/>
          <a:ln/>
        </p:spPr>
        <p:txBody>
          <a:bodyPr wrap="none" lIns="0" tIns="0" rIns="0" bIns="0" rtlCol="0" anchor="t"/>
          <a:lstStyle/>
          <a:p>
            <a:pPr marL="0" indent="0" algn="l">
              <a:lnSpc>
                <a:spcPct val="104000"/>
              </a:lnSpc>
              <a:buNone/>
            </a:pPr>
            <a:r>
              <a:rPr lang="en-US" sz="2450" b="1" dirty="0">
                <a:solidFill>
                  <a:srgbClr val="3257B8"/>
                </a:solidFill>
                <a:latin typeface="Roboto Slab Bold" pitchFamily="34" charset="0"/>
                <a:ea typeface="Roboto Slab Bold" pitchFamily="34" charset="-122"/>
                <a:cs typeface="Roboto Slab Bold" pitchFamily="34" charset="-120"/>
              </a:rPr>
              <a:t>Core Algorithm</a:t>
            </a:r>
            <a:endParaRPr lang="en-US" sz="2450" dirty="0"/>
          </a:p>
        </p:txBody>
      </p:sp>
      <p:pic>
        <p:nvPicPr>
          <p:cNvPr id="3" name="Image 0" descr="preencoded.png"/>
          <p:cNvPicPr>
            <a:picLocks noChangeAspect="1"/>
          </p:cNvPicPr>
          <p:nvPr/>
        </p:nvPicPr>
        <p:blipFill>
          <a:blip r:embed="rId3"/>
          <a:stretch>
            <a:fillRect/>
          </a:stretch>
        </p:blipFill>
        <p:spPr>
          <a:xfrm>
            <a:off x="661475" y="1148953"/>
            <a:ext cx="634984" cy="762000"/>
          </a:xfrm>
          <a:prstGeom prst="rect">
            <a:avLst/>
          </a:prstGeom>
        </p:spPr>
      </p:pic>
      <p:sp>
        <p:nvSpPr>
          <p:cNvPr id="4" name="Text 1"/>
          <p:cNvSpPr/>
          <p:nvPr/>
        </p:nvSpPr>
        <p:spPr>
          <a:xfrm>
            <a:off x="1381785" y="1275953"/>
            <a:ext cx="7393100" cy="204788"/>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Stage 1 — Login &amp; Client Validation: User submits credentials · System verifies client in database</a:t>
            </a:r>
            <a:endParaRPr lang="en-US" sz="1200" dirty="0"/>
          </a:p>
        </p:txBody>
      </p:sp>
      <p:sp>
        <p:nvSpPr>
          <p:cNvPr id="5" name="Text 2"/>
          <p:cNvSpPr/>
          <p:nvPr/>
        </p:nvSpPr>
        <p:spPr>
          <a:xfrm>
            <a:off x="1381785" y="1531938"/>
            <a:ext cx="10148435" cy="169862"/>
          </a:xfrm>
          <a:prstGeom prst="rect">
            <a:avLst/>
          </a:prstGeom>
          <a:noFill/>
          <a:ln/>
        </p:spPr>
        <p:txBody>
          <a:bodyPr wrap="none" lIns="0" tIns="0" rIns="0" bIns="0" rtlCol="0" anchor="t"/>
          <a:lstStyle/>
          <a:p>
            <a:pPr marL="0" indent="0" algn="l">
              <a:lnSpc>
                <a:spcPct val="111000"/>
              </a:lnSpc>
              <a:buNone/>
            </a:pPr>
            <a:r>
              <a:rPr lang="en-US" sz="950" dirty="0">
                <a:solidFill>
                  <a:srgbClr val="000000"/>
                </a:solidFill>
                <a:latin typeface="Roboto" pitchFamily="34" charset="0"/>
                <a:ea typeface="Roboto" pitchFamily="34" charset="-122"/>
                <a:cs typeface="Roboto" pitchFamily="34" charset="-120"/>
              </a:rPr>
              <a:t>❌</a:t>
            </a:r>
            <a:r>
              <a:rPr lang="en-US" sz="950" dirty="0">
                <a:solidFill>
                  <a:srgbClr val="15213F"/>
                </a:solidFill>
                <a:latin typeface="Roboto" pitchFamily="34" charset="0"/>
                <a:ea typeface="Roboto" pitchFamily="34" charset="-122"/>
                <a:cs typeface="Roboto" pitchFamily="34" charset="-120"/>
              </a:rPr>
              <a:t> Client not found → </a:t>
            </a:r>
            <a:r>
              <a:rPr lang="en-US" sz="950" b="1" dirty="0">
                <a:solidFill>
                  <a:srgbClr val="F44444"/>
                </a:solidFill>
                <a:latin typeface="Roboto Bold" pitchFamily="34" charset="0"/>
                <a:ea typeface="Roboto Bold" pitchFamily="34" charset="-122"/>
                <a:cs typeface="Roboto Bold" pitchFamily="34" charset="-120"/>
              </a:rPr>
              <a:t>Error Notification — Stop</a:t>
            </a:r>
            <a:endParaRPr lang="en-US" sz="950" dirty="0"/>
          </a:p>
        </p:txBody>
      </p:sp>
      <p:pic>
        <p:nvPicPr>
          <p:cNvPr id="6" name="Image 1" descr="preencoded.png"/>
          <p:cNvPicPr>
            <a:picLocks noChangeAspect="1"/>
          </p:cNvPicPr>
          <p:nvPr/>
        </p:nvPicPr>
        <p:blipFill>
          <a:blip r:embed="rId4"/>
          <a:stretch>
            <a:fillRect/>
          </a:stretch>
        </p:blipFill>
        <p:spPr>
          <a:xfrm>
            <a:off x="661475" y="1910953"/>
            <a:ext cx="634984" cy="900906"/>
          </a:xfrm>
          <a:prstGeom prst="rect">
            <a:avLst/>
          </a:prstGeom>
        </p:spPr>
      </p:pic>
      <p:sp>
        <p:nvSpPr>
          <p:cNvPr id="7" name="Text 3"/>
          <p:cNvSpPr/>
          <p:nvPr/>
        </p:nvSpPr>
        <p:spPr>
          <a:xfrm>
            <a:off x="1381785" y="2037953"/>
            <a:ext cx="3113010" cy="204788"/>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Stage 2 — Upload &amp; Validate Document</a:t>
            </a:r>
            <a:endParaRPr lang="en-US" sz="1200" dirty="0"/>
          </a:p>
        </p:txBody>
      </p:sp>
      <p:sp>
        <p:nvSpPr>
          <p:cNvPr id="8" name="Text 4"/>
          <p:cNvSpPr/>
          <p:nvPr/>
        </p:nvSpPr>
        <p:spPr>
          <a:xfrm>
            <a:off x="1381785" y="2293938"/>
            <a:ext cx="10148435" cy="390922"/>
          </a:xfrm>
          <a:prstGeom prst="rect">
            <a:avLst/>
          </a:prstGeom>
          <a:noFill/>
          <a:ln/>
        </p:spPr>
        <p:txBody>
          <a:bodyPr wrap="square" lIns="0" tIns="0" rIns="0" bIns="0" rtlCol="0" anchor="t"/>
          <a:lstStyle/>
          <a:p>
            <a:pPr marL="0" indent="0" algn="l">
              <a:lnSpc>
                <a:spcPct val="111000"/>
              </a:lnSpc>
              <a:spcAft>
                <a:spcPts val="400"/>
              </a:spcAft>
              <a:buNone/>
            </a:pPr>
            <a:r>
              <a:rPr lang="en-US" sz="950" dirty="0">
                <a:solidFill>
                  <a:srgbClr val="15213F"/>
                </a:solidFill>
                <a:latin typeface="Roboto" pitchFamily="34" charset="0"/>
                <a:ea typeface="Roboto" pitchFamily="34" charset="-122"/>
                <a:cs typeface="Roboto" pitchFamily="34" charset="-120"/>
              </a:rPr>
              <a:t>Checks: format · size · readability · duplicate detection</a:t>
            </a:r>
            <a:endParaRPr lang="en-US" sz="950" dirty="0"/>
          </a:p>
          <a:p>
            <a:pPr marL="0" indent="0" algn="l">
              <a:lnSpc>
                <a:spcPct val="111000"/>
              </a:lnSpc>
              <a:buNone/>
            </a:pPr>
            <a:r>
              <a:rPr lang="en-US" sz="950" dirty="0">
                <a:solidFill>
                  <a:srgbClr val="000000"/>
                </a:solidFill>
                <a:latin typeface="Roboto" pitchFamily="34" charset="0"/>
                <a:ea typeface="Roboto" pitchFamily="34" charset="-122"/>
                <a:cs typeface="Roboto" pitchFamily="34" charset="-120"/>
              </a:rPr>
              <a:t>❌</a:t>
            </a:r>
            <a:r>
              <a:rPr lang="en-US" sz="950" dirty="0">
                <a:solidFill>
                  <a:srgbClr val="15213F"/>
                </a:solidFill>
                <a:latin typeface="Roboto" pitchFamily="34" charset="0"/>
                <a:ea typeface="Roboto" pitchFamily="34" charset="-122"/>
                <a:cs typeface="Roboto" pitchFamily="34" charset="-120"/>
              </a:rPr>
              <a:t> Invalid or duplicate → </a:t>
            </a:r>
            <a:r>
              <a:rPr lang="en-US" sz="950" b="1" dirty="0">
                <a:solidFill>
                  <a:srgbClr val="F44444"/>
                </a:solidFill>
                <a:latin typeface="Roboto Bold" pitchFamily="34" charset="0"/>
                <a:ea typeface="Roboto Bold" pitchFamily="34" charset="-122"/>
                <a:cs typeface="Roboto Bold" pitchFamily="34" charset="-120"/>
              </a:rPr>
              <a:t>Error Notification — Stop</a:t>
            </a:r>
            <a:endParaRPr lang="en-US" sz="950" dirty="0"/>
          </a:p>
        </p:txBody>
      </p:sp>
      <p:pic>
        <p:nvPicPr>
          <p:cNvPr id="9" name="Image 2" descr="preencoded.png"/>
          <p:cNvPicPr>
            <a:picLocks noChangeAspect="1"/>
          </p:cNvPicPr>
          <p:nvPr/>
        </p:nvPicPr>
        <p:blipFill>
          <a:blip r:embed="rId5"/>
          <a:stretch>
            <a:fillRect/>
          </a:stretch>
        </p:blipFill>
        <p:spPr>
          <a:xfrm>
            <a:off x="661475" y="2811859"/>
            <a:ext cx="634984" cy="762000"/>
          </a:xfrm>
          <a:prstGeom prst="rect">
            <a:avLst/>
          </a:prstGeom>
        </p:spPr>
      </p:pic>
      <p:sp>
        <p:nvSpPr>
          <p:cNvPr id="10" name="Text 5"/>
          <p:cNvSpPr/>
          <p:nvPr/>
        </p:nvSpPr>
        <p:spPr>
          <a:xfrm>
            <a:off x="1381785" y="2938859"/>
            <a:ext cx="2152001" cy="204788"/>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Stage 3 — Store &amp; Register</a:t>
            </a:r>
            <a:endParaRPr lang="en-US" sz="1200" dirty="0"/>
          </a:p>
        </p:txBody>
      </p:sp>
      <p:sp>
        <p:nvSpPr>
          <p:cNvPr id="11" name="Text 6"/>
          <p:cNvSpPr/>
          <p:nvPr/>
        </p:nvSpPr>
        <p:spPr>
          <a:xfrm>
            <a:off x="1381785" y="3194844"/>
            <a:ext cx="10148435" cy="169862"/>
          </a:xfrm>
          <a:prstGeom prst="rect">
            <a:avLst/>
          </a:prstGeom>
          <a:noFill/>
          <a:ln/>
        </p:spPr>
        <p:txBody>
          <a:bodyPr wrap="none" lIns="0" tIns="0" rIns="0" bIns="0" rtlCol="0" anchor="t"/>
          <a:lstStyle/>
          <a:p>
            <a:pPr marL="0" indent="0" algn="l">
              <a:lnSpc>
                <a:spcPct val="111000"/>
              </a:lnSpc>
              <a:buNone/>
            </a:pPr>
            <a:r>
              <a:rPr lang="en-US" sz="950" dirty="0">
                <a:solidFill>
                  <a:srgbClr val="15213F"/>
                </a:solidFill>
                <a:latin typeface="Roboto" pitchFamily="34" charset="0"/>
                <a:ea typeface="Roboto" pitchFamily="34" charset="-122"/>
                <a:cs typeface="Roboto" pitchFamily="34" charset="-120"/>
              </a:rPr>
              <a:t>Upload to Cloud Storage · Record in Firebase · Status: </a:t>
            </a:r>
            <a:r>
              <a:rPr lang="en-US" sz="950" b="1" dirty="0">
                <a:solidFill>
                  <a:srgbClr val="15213F"/>
                </a:solidFill>
                <a:latin typeface="Roboto Bold" pitchFamily="34" charset="0"/>
                <a:ea typeface="Roboto Bold" pitchFamily="34" charset="-122"/>
                <a:cs typeface="Roboto Bold" pitchFamily="34" charset="-120"/>
              </a:rPr>
              <a:t>Pending OCR</a:t>
            </a:r>
            <a:endParaRPr lang="en-US" sz="950" dirty="0"/>
          </a:p>
        </p:txBody>
      </p:sp>
      <p:pic>
        <p:nvPicPr>
          <p:cNvPr id="12" name="Image 3" descr="preencoded.png"/>
          <p:cNvPicPr>
            <a:picLocks noChangeAspect="1"/>
          </p:cNvPicPr>
          <p:nvPr/>
        </p:nvPicPr>
        <p:blipFill>
          <a:blip r:embed="rId6"/>
          <a:stretch>
            <a:fillRect/>
          </a:stretch>
        </p:blipFill>
        <p:spPr>
          <a:xfrm>
            <a:off x="661475" y="3573859"/>
            <a:ext cx="634984" cy="900906"/>
          </a:xfrm>
          <a:prstGeom prst="rect">
            <a:avLst/>
          </a:prstGeom>
        </p:spPr>
      </p:pic>
      <p:sp>
        <p:nvSpPr>
          <p:cNvPr id="13" name="Text 7"/>
          <p:cNvSpPr/>
          <p:nvPr/>
        </p:nvSpPr>
        <p:spPr>
          <a:xfrm>
            <a:off x="1381785" y="3700859"/>
            <a:ext cx="2639649" cy="204788"/>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Stage 4 — OCR &amp; Data Extraction</a:t>
            </a:r>
            <a:endParaRPr lang="en-US" sz="1200" dirty="0"/>
          </a:p>
        </p:txBody>
      </p:sp>
      <p:sp>
        <p:nvSpPr>
          <p:cNvPr id="14" name="Text 8"/>
          <p:cNvSpPr/>
          <p:nvPr/>
        </p:nvSpPr>
        <p:spPr>
          <a:xfrm>
            <a:off x="1381785" y="3956844"/>
            <a:ext cx="10148435" cy="390922"/>
          </a:xfrm>
          <a:prstGeom prst="rect">
            <a:avLst/>
          </a:prstGeom>
          <a:noFill/>
          <a:ln/>
        </p:spPr>
        <p:txBody>
          <a:bodyPr wrap="square" lIns="0" tIns="0" rIns="0" bIns="0" rtlCol="0" anchor="t"/>
          <a:lstStyle/>
          <a:p>
            <a:pPr marL="0" indent="0" algn="l">
              <a:lnSpc>
                <a:spcPct val="111000"/>
              </a:lnSpc>
              <a:spcAft>
                <a:spcPts val="400"/>
              </a:spcAft>
              <a:buNone/>
            </a:pPr>
            <a:r>
              <a:rPr lang="en-US" sz="950" dirty="0">
                <a:solidFill>
                  <a:srgbClr val="15213F"/>
                </a:solidFill>
                <a:latin typeface="Roboto" pitchFamily="34" charset="0"/>
                <a:ea typeface="Roboto" pitchFamily="34" charset="-122"/>
                <a:cs typeface="Roboto" pitchFamily="34" charset="-120"/>
              </a:rPr>
              <a:t>Extracts: Supplier · Date · Amount · VAT · Doc Number</a:t>
            </a:r>
            <a:endParaRPr lang="en-US" sz="950" dirty="0"/>
          </a:p>
          <a:p>
            <a:pPr marL="0" indent="0" algn="l">
              <a:lnSpc>
                <a:spcPct val="111000"/>
              </a:lnSpc>
              <a:buNone/>
            </a:pPr>
            <a:r>
              <a:rPr lang="en-US" sz="950" dirty="0">
                <a:solidFill>
                  <a:srgbClr val="000000"/>
                </a:solidFill>
                <a:latin typeface="Roboto" pitchFamily="34" charset="0"/>
                <a:ea typeface="Roboto" pitchFamily="34" charset="-122"/>
                <a:cs typeface="Roboto" pitchFamily="34" charset="-120"/>
              </a:rPr>
              <a:t>⚠️</a:t>
            </a:r>
            <a:r>
              <a:rPr lang="en-US" sz="950" dirty="0">
                <a:solidFill>
                  <a:srgbClr val="15213F"/>
                </a:solidFill>
                <a:latin typeface="Roboto" pitchFamily="34" charset="0"/>
                <a:ea typeface="Roboto" pitchFamily="34" charset="-122"/>
                <a:cs typeface="Roboto" pitchFamily="34" charset="-120"/>
              </a:rPr>
              <a:t> OCR fails → </a:t>
            </a:r>
            <a:r>
              <a:rPr lang="en-US" sz="950" b="1" dirty="0">
                <a:solidFill>
                  <a:srgbClr val="957D00"/>
                </a:solidFill>
                <a:latin typeface="Roboto Bold" pitchFamily="34" charset="0"/>
                <a:ea typeface="Roboto Bold" pitchFamily="34" charset="-122"/>
                <a:cs typeface="Roboto Bold" pitchFamily="34" charset="-120"/>
              </a:rPr>
              <a:t>Manual Review Queue</a:t>
            </a:r>
            <a:endParaRPr lang="en-US" sz="950" dirty="0"/>
          </a:p>
        </p:txBody>
      </p:sp>
      <p:pic>
        <p:nvPicPr>
          <p:cNvPr id="15" name="Image 4" descr="preencoded.png"/>
          <p:cNvPicPr>
            <a:picLocks noChangeAspect="1"/>
          </p:cNvPicPr>
          <p:nvPr/>
        </p:nvPicPr>
        <p:blipFill>
          <a:blip r:embed="rId7"/>
          <a:stretch>
            <a:fillRect/>
          </a:stretch>
        </p:blipFill>
        <p:spPr>
          <a:xfrm>
            <a:off x="661475" y="4474766"/>
            <a:ext cx="634984" cy="900906"/>
          </a:xfrm>
          <a:prstGeom prst="rect">
            <a:avLst/>
          </a:prstGeom>
        </p:spPr>
      </p:pic>
      <p:sp>
        <p:nvSpPr>
          <p:cNvPr id="16" name="Text 9"/>
          <p:cNvSpPr/>
          <p:nvPr/>
        </p:nvSpPr>
        <p:spPr>
          <a:xfrm>
            <a:off x="1381785" y="4601766"/>
            <a:ext cx="2504219" cy="204788"/>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Stage 5 — Validate &amp; Save Data</a:t>
            </a:r>
            <a:endParaRPr lang="en-US" sz="1200" dirty="0"/>
          </a:p>
        </p:txBody>
      </p:sp>
      <p:sp>
        <p:nvSpPr>
          <p:cNvPr id="17" name="Text 10"/>
          <p:cNvSpPr/>
          <p:nvPr/>
        </p:nvSpPr>
        <p:spPr>
          <a:xfrm>
            <a:off x="1381785" y="4857750"/>
            <a:ext cx="10148435" cy="390922"/>
          </a:xfrm>
          <a:prstGeom prst="rect">
            <a:avLst/>
          </a:prstGeom>
          <a:noFill/>
          <a:ln/>
        </p:spPr>
        <p:txBody>
          <a:bodyPr wrap="square" lIns="0" tIns="0" rIns="0" bIns="0" rtlCol="0" anchor="t"/>
          <a:lstStyle/>
          <a:p>
            <a:pPr marL="0" indent="0" algn="l">
              <a:lnSpc>
                <a:spcPct val="111000"/>
              </a:lnSpc>
              <a:spcAft>
                <a:spcPts val="400"/>
              </a:spcAft>
              <a:buNone/>
            </a:pPr>
            <a:r>
              <a:rPr lang="en-US" sz="950" dirty="0">
                <a:solidFill>
                  <a:srgbClr val="15213F"/>
                </a:solidFill>
                <a:latin typeface="Roboto" pitchFamily="34" charset="0"/>
                <a:ea typeface="Roboto" pitchFamily="34" charset="-122"/>
                <a:cs typeface="Roboto" pitchFamily="34" charset="-120"/>
              </a:rPr>
              <a:t>Quality checks on fields · Save to Firebase · Update status</a:t>
            </a:r>
            <a:endParaRPr lang="en-US" sz="950" dirty="0"/>
          </a:p>
          <a:p>
            <a:pPr marL="0" indent="0" algn="l">
              <a:lnSpc>
                <a:spcPct val="111000"/>
              </a:lnSpc>
              <a:buNone/>
            </a:pPr>
            <a:r>
              <a:rPr lang="en-US" sz="950" dirty="0">
                <a:solidFill>
                  <a:srgbClr val="000000"/>
                </a:solidFill>
                <a:latin typeface="Roboto" pitchFamily="34" charset="0"/>
                <a:ea typeface="Roboto" pitchFamily="34" charset="-122"/>
                <a:cs typeface="Roboto" pitchFamily="34" charset="-120"/>
              </a:rPr>
              <a:t>⚠️</a:t>
            </a:r>
            <a:r>
              <a:rPr lang="en-US" sz="950" dirty="0">
                <a:solidFill>
                  <a:srgbClr val="15213F"/>
                </a:solidFill>
                <a:latin typeface="Roboto" pitchFamily="34" charset="0"/>
                <a:ea typeface="Roboto" pitchFamily="34" charset="-122"/>
                <a:cs typeface="Roboto" pitchFamily="34" charset="-120"/>
              </a:rPr>
              <a:t> Fails → </a:t>
            </a:r>
            <a:r>
              <a:rPr lang="en-US" sz="950" b="1" dirty="0">
                <a:solidFill>
                  <a:srgbClr val="957D00"/>
                </a:solidFill>
                <a:latin typeface="Roboto Bold" pitchFamily="34" charset="0"/>
                <a:ea typeface="Roboto Bold" pitchFamily="34" charset="-122"/>
                <a:cs typeface="Roboto Bold" pitchFamily="34" charset="-120"/>
              </a:rPr>
              <a:t>Requires Manual Revie</a:t>
            </a:r>
            <a:r>
              <a:rPr lang="en-US" sz="950" b="1" dirty="0">
                <a:solidFill>
                  <a:srgbClr val="FFF7ED"/>
                </a:solidFill>
                <a:latin typeface="Roboto Bold" pitchFamily="34" charset="0"/>
                <a:ea typeface="Roboto Bold" pitchFamily="34" charset="-122"/>
                <a:cs typeface="Roboto Bold" pitchFamily="34" charset="-120"/>
              </a:rPr>
              <a:t>w</a:t>
            </a:r>
            <a:endParaRPr lang="en-US" sz="950" dirty="0"/>
          </a:p>
        </p:txBody>
      </p:sp>
      <p:pic>
        <p:nvPicPr>
          <p:cNvPr id="18" name="Image 5" descr="preencoded.png"/>
          <p:cNvPicPr>
            <a:picLocks noChangeAspect="1"/>
          </p:cNvPicPr>
          <p:nvPr/>
        </p:nvPicPr>
        <p:blipFill>
          <a:blip r:embed="rId8"/>
          <a:stretch>
            <a:fillRect/>
          </a:stretch>
        </p:blipFill>
        <p:spPr>
          <a:xfrm>
            <a:off x="661475" y="5375672"/>
            <a:ext cx="634984" cy="900906"/>
          </a:xfrm>
          <a:prstGeom prst="rect">
            <a:avLst/>
          </a:prstGeom>
        </p:spPr>
      </p:pic>
      <p:sp>
        <p:nvSpPr>
          <p:cNvPr id="19" name="Text 11"/>
          <p:cNvSpPr/>
          <p:nvPr/>
        </p:nvSpPr>
        <p:spPr>
          <a:xfrm>
            <a:off x="1381785" y="5502672"/>
            <a:ext cx="2446475" cy="204788"/>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r>
              <a:rPr lang="en-US" sz="1200" dirty="0">
                <a:solidFill>
                  <a:srgbClr val="15213F"/>
                </a:solidFill>
                <a:latin typeface="Roboto Slab" pitchFamily="34" charset="0"/>
                <a:ea typeface="Roboto Slab" pitchFamily="34" charset="-122"/>
                <a:cs typeface="Roboto Slab" pitchFamily="34" charset="-120"/>
              </a:rPr>
              <a:t> Stage 6 — Accountant Review</a:t>
            </a:r>
            <a:endParaRPr lang="en-US" sz="1200" dirty="0"/>
          </a:p>
        </p:txBody>
      </p:sp>
      <p:sp>
        <p:nvSpPr>
          <p:cNvPr id="20" name="Text 12"/>
          <p:cNvSpPr/>
          <p:nvPr/>
        </p:nvSpPr>
        <p:spPr>
          <a:xfrm>
            <a:off x="1381785" y="5758656"/>
            <a:ext cx="10148435" cy="390922"/>
          </a:xfrm>
          <a:prstGeom prst="rect">
            <a:avLst/>
          </a:prstGeom>
          <a:noFill/>
          <a:ln/>
        </p:spPr>
        <p:txBody>
          <a:bodyPr wrap="square" lIns="0" tIns="0" rIns="0" bIns="0" rtlCol="0" anchor="t"/>
          <a:lstStyle/>
          <a:p>
            <a:pPr marL="0" indent="0" algn="l">
              <a:lnSpc>
                <a:spcPct val="111000"/>
              </a:lnSpc>
              <a:spcAft>
                <a:spcPts val="400"/>
              </a:spcAft>
              <a:buNone/>
            </a:pPr>
            <a:r>
              <a:rPr lang="en-US" sz="950" dirty="0">
                <a:solidFill>
                  <a:srgbClr val="15213F"/>
                </a:solidFill>
                <a:latin typeface="Roboto" pitchFamily="34" charset="0"/>
                <a:ea typeface="Roboto" pitchFamily="34" charset="-122"/>
                <a:cs typeface="Roboto" pitchFamily="34" charset="-120"/>
              </a:rPr>
              <a:t>Dashboard notification · Reviews document &amp; extracted data</a:t>
            </a:r>
            <a:endParaRPr lang="en-US" sz="950" dirty="0"/>
          </a:p>
          <a:p>
            <a:pPr marL="0" indent="0" algn="l">
              <a:lnSpc>
                <a:spcPct val="111000"/>
              </a:lnSpc>
              <a:buNone/>
            </a:pPr>
            <a:r>
              <a:rPr lang="en-US" sz="950" dirty="0">
                <a:solidFill>
                  <a:srgbClr val="15213F"/>
                </a:solidFill>
                <a:latin typeface="Roboto" pitchFamily="34" charset="0"/>
                <a:ea typeface="Roboto" pitchFamily="34" charset="-122"/>
                <a:cs typeface="Roboto" pitchFamily="34" charset="-120"/>
              </a:rPr>
              <a:t>Final status: </a:t>
            </a:r>
            <a:r>
              <a:rPr lang="en-US" sz="950" b="1" dirty="0">
                <a:solidFill>
                  <a:srgbClr val="5CC97B"/>
                </a:solidFill>
                <a:latin typeface="Roboto Bold" pitchFamily="34" charset="0"/>
                <a:ea typeface="Roboto Bold" pitchFamily="34" charset="-122"/>
                <a:cs typeface="Roboto Bold" pitchFamily="34" charset="-120"/>
              </a:rPr>
              <a:t>Approved</a:t>
            </a:r>
            <a:r>
              <a:rPr lang="en-US" sz="950" dirty="0">
                <a:solidFill>
                  <a:srgbClr val="15213F"/>
                </a:solidFill>
                <a:latin typeface="Roboto" pitchFamily="34" charset="0"/>
                <a:ea typeface="Roboto" pitchFamily="34" charset="-122"/>
                <a:cs typeface="Roboto" pitchFamily="34" charset="-120"/>
              </a:rPr>
              <a:t> · </a:t>
            </a:r>
            <a:r>
              <a:rPr lang="en-US" sz="950" b="1" dirty="0">
                <a:solidFill>
                  <a:srgbClr val="F44444"/>
                </a:solidFill>
                <a:latin typeface="Roboto Bold" pitchFamily="34" charset="0"/>
                <a:ea typeface="Roboto Bold" pitchFamily="34" charset="-122"/>
                <a:cs typeface="Roboto Bold" pitchFamily="34" charset="-120"/>
              </a:rPr>
              <a:t>Rejected</a:t>
            </a:r>
            <a:r>
              <a:rPr lang="en-US" sz="950" dirty="0">
                <a:solidFill>
                  <a:srgbClr val="15213F"/>
                </a:solidFill>
                <a:latin typeface="Roboto" pitchFamily="34" charset="0"/>
                <a:ea typeface="Roboto" pitchFamily="34" charset="-122"/>
                <a:cs typeface="Roboto" pitchFamily="34" charset="-120"/>
              </a:rPr>
              <a:t> · </a:t>
            </a:r>
            <a:r>
              <a:rPr lang="en-US" sz="950" b="1" dirty="0">
                <a:solidFill>
                  <a:srgbClr val="957D00"/>
                </a:solidFill>
                <a:latin typeface="Roboto Bold" pitchFamily="34" charset="0"/>
                <a:ea typeface="Roboto Bold" pitchFamily="34" charset="-122"/>
                <a:cs typeface="Roboto Bold" pitchFamily="34" charset="-120"/>
              </a:rPr>
              <a:t>Correction Required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520105"/>
            <a:ext cx="4522774" cy="489148"/>
          </a:xfrm>
          <a:prstGeom prst="rect">
            <a:avLst/>
          </a:prstGeom>
          <a:noFill/>
          <a:ln/>
        </p:spPr>
        <p:txBody>
          <a:bodyPr wrap="none" lIns="0" tIns="0" rIns="0" bIns="0" rtlCol="0" anchor="t"/>
          <a:lstStyle/>
          <a:p>
            <a:pPr marL="0" indent="0" algn="l">
              <a:lnSpc>
                <a:spcPct val="104000"/>
              </a:lnSpc>
              <a:buNone/>
            </a:pPr>
            <a:r>
              <a:rPr lang="en-US" sz="3050" dirty="0">
                <a:solidFill>
                  <a:srgbClr val="3257B8"/>
                </a:solidFill>
                <a:latin typeface="Roboto Slab" pitchFamily="34" charset="0"/>
                <a:ea typeface="Roboto Slab" pitchFamily="34" charset="-122"/>
                <a:cs typeface="Roboto Slab" pitchFamily="34" charset="-120"/>
              </a:rPr>
              <a:t>User interface</a:t>
            </a:r>
            <a:endParaRPr lang="en-US" sz="3050" dirty="0"/>
          </a:p>
        </p:txBody>
      </p:sp>
      <p:pic>
        <p:nvPicPr>
          <p:cNvPr id="3" name="Image 0" descr="preencoded.png"/>
          <p:cNvPicPr>
            <a:picLocks noChangeAspect="1"/>
          </p:cNvPicPr>
          <p:nvPr/>
        </p:nvPicPr>
        <p:blipFill>
          <a:blip r:embed="rId3"/>
          <a:stretch>
            <a:fillRect/>
          </a:stretch>
        </p:blipFill>
        <p:spPr>
          <a:xfrm>
            <a:off x="1596092" y="1268512"/>
            <a:ext cx="8999511" cy="50692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535880"/>
            <a:ext cx="4301323" cy="461466"/>
          </a:xfrm>
          <a:prstGeom prst="rect">
            <a:avLst/>
          </a:prstGeom>
          <a:noFill/>
          <a:ln/>
        </p:spPr>
        <p:txBody>
          <a:bodyPr wrap="none" lIns="0" tIns="0" rIns="0" bIns="0" rtlCol="0" anchor="t"/>
          <a:lstStyle/>
          <a:p>
            <a:pPr marL="0" indent="0" algn="l">
              <a:lnSpc>
                <a:spcPct val="104000"/>
              </a:lnSpc>
              <a:buNone/>
            </a:pPr>
            <a:r>
              <a:rPr lang="en-US" sz="2900" dirty="0">
                <a:solidFill>
                  <a:srgbClr val="3257B8"/>
                </a:solidFill>
                <a:latin typeface="Roboto Slab" pitchFamily="34" charset="0"/>
                <a:ea typeface="Roboto Slab" pitchFamily="34" charset="-122"/>
                <a:cs typeface="Roboto Slab" pitchFamily="34" charset="-120"/>
              </a:rPr>
              <a:t>Accountant interface</a:t>
            </a:r>
            <a:endParaRPr lang="en-US" sz="2900" dirty="0"/>
          </a:p>
        </p:txBody>
      </p:sp>
      <p:pic>
        <p:nvPicPr>
          <p:cNvPr id="3" name="Image 0" descr="preencoded.png"/>
          <p:cNvPicPr>
            <a:picLocks noChangeAspect="1"/>
          </p:cNvPicPr>
          <p:nvPr/>
        </p:nvPicPr>
        <p:blipFill>
          <a:blip r:embed="rId3"/>
          <a:stretch>
            <a:fillRect/>
          </a:stretch>
        </p:blipFill>
        <p:spPr>
          <a:xfrm>
            <a:off x="1850780" y="1228030"/>
            <a:ext cx="8490035" cy="50940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519807"/>
            <a:ext cx="6508786"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Roboto Slab Bold" pitchFamily="34" charset="0"/>
                <a:ea typeface="Roboto Slab Bold" pitchFamily="34" charset="-122"/>
                <a:cs typeface="Roboto Slab Bold" pitchFamily="34" charset="-120"/>
              </a:rPr>
              <a:t>Security &amp; Data Protection</a:t>
            </a:r>
            <a:endParaRPr lang="en-US" sz="3700" dirty="0"/>
          </a:p>
        </p:txBody>
      </p:sp>
      <p:sp>
        <p:nvSpPr>
          <p:cNvPr id="3" name="Shape 1"/>
          <p:cNvSpPr/>
          <p:nvPr/>
        </p:nvSpPr>
        <p:spPr>
          <a:xfrm>
            <a:off x="661475" y="1488480"/>
            <a:ext cx="3496877" cy="3165971"/>
          </a:xfrm>
          <a:prstGeom prst="roundRect">
            <a:avLst>
              <a:gd name="adj" fmla="val 896"/>
            </a:avLst>
          </a:prstGeom>
          <a:solidFill>
            <a:srgbClr val="E9ECF2"/>
          </a:solidFill>
          <a:ln/>
        </p:spPr>
        <p:txBody>
          <a:bodyPr/>
          <a:lstStyle/>
          <a:p>
            <a:endParaRPr lang="he-IL"/>
          </a:p>
        </p:txBody>
      </p:sp>
      <p:sp>
        <p:nvSpPr>
          <p:cNvPr id="4" name="Shape 2"/>
          <p:cNvSpPr/>
          <p:nvPr/>
        </p:nvSpPr>
        <p:spPr>
          <a:xfrm>
            <a:off x="850482" y="1677491"/>
            <a:ext cx="567021" cy="567035"/>
          </a:xfrm>
          <a:prstGeom prst="ellipse">
            <a:avLst/>
          </a:prstGeom>
          <a:solidFill>
            <a:srgbClr val="476FD6"/>
          </a:solidFill>
          <a:ln/>
        </p:spPr>
        <p:txBody>
          <a:bodyPr/>
          <a:lstStyle/>
          <a:p>
            <a:endParaRPr lang="he-IL"/>
          </a:p>
        </p:txBody>
      </p:sp>
      <p:sp>
        <p:nvSpPr>
          <p:cNvPr id="5" name="Text 3"/>
          <p:cNvSpPr/>
          <p:nvPr/>
        </p:nvSpPr>
        <p:spPr>
          <a:xfrm>
            <a:off x="1006450" y="1801515"/>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FFFFFF"/>
                </a:solidFill>
                <a:latin typeface="Roboto Slab" pitchFamily="34" charset="0"/>
                <a:ea typeface="Roboto Slab" pitchFamily="34" charset="-122"/>
                <a:cs typeface="Roboto Slab" pitchFamily="34" charset="-120"/>
              </a:rPr>
              <a:t>1</a:t>
            </a:r>
            <a:endParaRPr lang="en-US" sz="2000" dirty="0"/>
          </a:p>
        </p:txBody>
      </p:sp>
      <p:sp>
        <p:nvSpPr>
          <p:cNvPr id="6" name="Text 4"/>
          <p:cNvSpPr/>
          <p:nvPr/>
        </p:nvSpPr>
        <p:spPr>
          <a:xfrm>
            <a:off x="850482" y="2433538"/>
            <a:ext cx="2835204" cy="354409"/>
          </a:xfrm>
          <a:prstGeom prst="rect">
            <a:avLst/>
          </a:prstGeom>
          <a:noFill/>
          <a:ln/>
        </p:spPr>
        <p:txBody>
          <a:bodyPr wrap="none" lIns="0" tIns="0" rIns="0" bIns="0" rtlCol="0" anchor="t"/>
          <a:lstStyle/>
          <a:p>
            <a:pPr marL="0" indent="0" algn="l">
              <a:lnSpc>
                <a:spcPct val="104000"/>
              </a:lnSpc>
              <a:buNone/>
            </a:pPr>
            <a:r>
              <a:rPr lang="en-US" sz="2200" b="1" dirty="0">
                <a:solidFill>
                  <a:srgbClr val="15213F"/>
                </a:solidFill>
                <a:latin typeface="Roboto Slab Bold" pitchFamily="34" charset="0"/>
                <a:ea typeface="Roboto Slab Bold" pitchFamily="34" charset="-122"/>
                <a:cs typeface="Roboto Slab Bold" pitchFamily="34" charset="-120"/>
              </a:rPr>
              <a:t>Passwordless Login</a:t>
            </a:r>
            <a:endParaRPr lang="en-US" sz="2200" dirty="0"/>
          </a:p>
        </p:txBody>
      </p:sp>
      <p:sp>
        <p:nvSpPr>
          <p:cNvPr id="7" name="Text 5"/>
          <p:cNvSpPr/>
          <p:nvPr/>
        </p:nvSpPr>
        <p:spPr>
          <a:xfrm>
            <a:off x="850482" y="2901355"/>
            <a:ext cx="3118863"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No passwords are saved in our database. Users log in securely with single-use codes sent straight to WhatsApp.</a:t>
            </a:r>
            <a:endParaRPr lang="en-US" sz="1450" dirty="0"/>
          </a:p>
        </p:txBody>
      </p:sp>
      <p:sp>
        <p:nvSpPr>
          <p:cNvPr id="8" name="Shape 6"/>
          <p:cNvSpPr/>
          <p:nvPr/>
        </p:nvSpPr>
        <p:spPr>
          <a:xfrm>
            <a:off x="4347359" y="1488480"/>
            <a:ext cx="3496877" cy="3165971"/>
          </a:xfrm>
          <a:prstGeom prst="roundRect">
            <a:avLst>
              <a:gd name="adj" fmla="val 896"/>
            </a:avLst>
          </a:prstGeom>
          <a:solidFill>
            <a:srgbClr val="E9ECF2"/>
          </a:solidFill>
          <a:ln/>
        </p:spPr>
        <p:txBody>
          <a:bodyPr/>
          <a:lstStyle/>
          <a:p>
            <a:endParaRPr lang="he-IL"/>
          </a:p>
        </p:txBody>
      </p:sp>
      <p:sp>
        <p:nvSpPr>
          <p:cNvPr id="9" name="Shape 7"/>
          <p:cNvSpPr/>
          <p:nvPr/>
        </p:nvSpPr>
        <p:spPr>
          <a:xfrm>
            <a:off x="4536366" y="1677491"/>
            <a:ext cx="567021" cy="567035"/>
          </a:xfrm>
          <a:prstGeom prst="ellipse">
            <a:avLst/>
          </a:prstGeom>
          <a:solidFill>
            <a:srgbClr val="476FD6"/>
          </a:solidFill>
          <a:ln/>
        </p:spPr>
        <p:txBody>
          <a:bodyPr/>
          <a:lstStyle/>
          <a:p>
            <a:endParaRPr lang="he-IL"/>
          </a:p>
        </p:txBody>
      </p:sp>
      <p:sp>
        <p:nvSpPr>
          <p:cNvPr id="10" name="Text 8"/>
          <p:cNvSpPr/>
          <p:nvPr/>
        </p:nvSpPr>
        <p:spPr>
          <a:xfrm>
            <a:off x="4692334" y="1801515"/>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FFFFFF"/>
                </a:solidFill>
                <a:latin typeface="Roboto Slab" pitchFamily="34" charset="0"/>
                <a:ea typeface="Roboto Slab" pitchFamily="34" charset="-122"/>
                <a:cs typeface="Roboto Slab" pitchFamily="34" charset="-120"/>
              </a:rPr>
              <a:t>2</a:t>
            </a:r>
            <a:endParaRPr lang="en-US" sz="2000" dirty="0"/>
          </a:p>
        </p:txBody>
      </p:sp>
      <p:sp>
        <p:nvSpPr>
          <p:cNvPr id="11" name="Text 9"/>
          <p:cNvSpPr/>
          <p:nvPr/>
        </p:nvSpPr>
        <p:spPr>
          <a:xfrm>
            <a:off x="4536366" y="2433538"/>
            <a:ext cx="2909418" cy="354409"/>
          </a:xfrm>
          <a:prstGeom prst="rect">
            <a:avLst/>
          </a:prstGeom>
          <a:noFill/>
          <a:ln/>
        </p:spPr>
        <p:txBody>
          <a:bodyPr wrap="none" lIns="0" tIns="0" rIns="0" bIns="0" rtlCol="0" anchor="t"/>
          <a:lstStyle/>
          <a:p>
            <a:pPr marL="0" indent="0" algn="l">
              <a:lnSpc>
                <a:spcPct val="104000"/>
              </a:lnSpc>
              <a:buNone/>
            </a:pPr>
            <a:r>
              <a:rPr lang="en-US" sz="2200" b="1" dirty="0">
                <a:solidFill>
                  <a:srgbClr val="15213F"/>
                </a:solidFill>
                <a:latin typeface="Roboto Slab Bold" pitchFamily="34" charset="0"/>
                <a:ea typeface="Roboto Slab Bold" pitchFamily="34" charset="-122"/>
                <a:cs typeface="Roboto Slab Bold" pitchFamily="34" charset="-120"/>
              </a:rPr>
              <a:t>Private Cloud Storage</a:t>
            </a:r>
            <a:endParaRPr lang="en-US" sz="2200" dirty="0"/>
          </a:p>
        </p:txBody>
      </p:sp>
      <p:sp>
        <p:nvSpPr>
          <p:cNvPr id="12" name="Text 10"/>
          <p:cNvSpPr/>
          <p:nvPr/>
        </p:nvSpPr>
        <p:spPr>
          <a:xfrm>
            <a:off x="4536366" y="2901355"/>
            <a:ext cx="3118863"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Files are stored in private cloud storage. Access is limited using secure, temporary, and expiring links.</a:t>
            </a:r>
            <a:endParaRPr lang="en-US" sz="1450" dirty="0"/>
          </a:p>
        </p:txBody>
      </p:sp>
      <p:sp>
        <p:nvSpPr>
          <p:cNvPr id="13" name="Shape 11"/>
          <p:cNvSpPr/>
          <p:nvPr/>
        </p:nvSpPr>
        <p:spPr>
          <a:xfrm>
            <a:off x="8033244" y="1488480"/>
            <a:ext cx="3496877" cy="3165971"/>
          </a:xfrm>
          <a:prstGeom prst="roundRect">
            <a:avLst>
              <a:gd name="adj" fmla="val 896"/>
            </a:avLst>
          </a:prstGeom>
          <a:solidFill>
            <a:srgbClr val="E9ECF2"/>
          </a:solidFill>
          <a:ln/>
        </p:spPr>
        <p:txBody>
          <a:bodyPr/>
          <a:lstStyle/>
          <a:p>
            <a:endParaRPr lang="he-IL"/>
          </a:p>
        </p:txBody>
      </p:sp>
      <p:sp>
        <p:nvSpPr>
          <p:cNvPr id="14" name="Shape 12"/>
          <p:cNvSpPr/>
          <p:nvPr/>
        </p:nvSpPr>
        <p:spPr>
          <a:xfrm>
            <a:off x="8222251" y="1677491"/>
            <a:ext cx="567021" cy="567035"/>
          </a:xfrm>
          <a:prstGeom prst="ellipse">
            <a:avLst/>
          </a:prstGeom>
          <a:solidFill>
            <a:srgbClr val="476FD6"/>
          </a:solidFill>
          <a:ln/>
        </p:spPr>
        <p:txBody>
          <a:bodyPr/>
          <a:lstStyle/>
          <a:p>
            <a:endParaRPr lang="he-IL"/>
          </a:p>
        </p:txBody>
      </p:sp>
      <p:sp>
        <p:nvSpPr>
          <p:cNvPr id="15" name="Text 13"/>
          <p:cNvSpPr/>
          <p:nvPr/>
        </p:nvSpPr>
        <p:spPr>
          <a:xfrm>
            <a:off x="8378219" y="1801515"/>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FFFFFF"/>
                </a:solidFill>
                <a:latin typeface="Roboto Slab" pitchFamily="34" charset="0"/>
                <a:ea typeface="Roboto Slab" pitchFamily="34" charset="-122"/>
                <a:cs typeface="Roboto Slab" pitchFamily="34" charset="-120"/>
              </a:rPr>
              <a:t>3</a:t>
            </a:r>
            <a:endParaRPr lang="en-US" sz="2000" dirty="0"/>
          </a:p>
        </p:txBody>
      </p:sp>
      <p:sp>
        <p:nvSpPr>
          <p:cNvPr id="16" name="Text 14"/>
          <p:cNvSpPr/>
          <p:nvPr/>
        </p:nvSpPr>
        <p:spPr>
          <a:xfrm>
            <a:off x="8222251" y="2433538"/>
            <a:ext cx="3118863" cy="708819"/>
          </a:xfrm>
          <a:prstGeom prst="rect">
            <a:avLst/>
          </a:prstGeom>
          <a:noFill/>
          <a:ln/>
        </p:spPr>
        <p:txBody>
          <a:bodyPr wrap="square" lIns="0" tIns="0" rIns="0" bIns="0" rtlCol="0" anchor="t">
            <a:normAutofit/>
          </a:bodyPr>
          <a:lstStyle/>
          <a:p>
            <a:pPr marL="0" indent="0" algn="l">
              <a:lnSpc>
                <a:spcPct val="104000"/>
              </a:lnSpc>
              <a:buNone/>
            </a:pPr>
            <a:r>
              <a:rPr lang="en-US" sz="2200" b="1" dirty="0">
                <a:solidFill>
                  <a:srgbClr val="15213F"/>
                </a:solidFill>
                <a:latin typeface="Roboto Slab Bold" pitchFamily="34" charset="0"/>
                <a:ea typeface="Roboto Slab Bold" pitchFamily="34" charset="-122"/>
                <a:cs typeface="Roboto Slab Bold" pitchFamily="34" charset="-120"/>
              </a:rPr>
              <a:t>Secure HTTPS Channels</a:t>
            </a:r>
            <a:endParaRPr lang="en-US" sz="2200" dirty="0"/>
          </a:p>
        </p:txBody>
      </p:sp>
      <p:sp>
        <p:nvSpPr>
          <p:cNvPr id="17" name="Text 15"/>
          <p:cNvSpPr/>
          <p:nvPr/>
        </p:nvSpPr>
        <p:spPr>
          <a:xfrm>
            <a:off x="8222251" y="3255764"/>
            <a:ext cx="3118863"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All communication and data transfers are encrypted in transit using standard, built-in SSL protocols.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519807"/>
            <a:ext cx="5334958"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Roboto Slab Bold" pitchFamily="34" charset="0"/>
                <a:ea typeface="Roboto Slab Bold" pitchFamily="34" charset="-122"/>
                <a:cs typeface="Roboto Slab Bold" pitchFamily="34" charset="-120"/>
              </a:rPr>
              <a:t>Testing &amp; Evaluation</a:t>
            </a:r>
            <a:endParaRPr lang="en-US" sz="3700" dirty="0"/>
          </a:p>
        </p:txBody>
      </p:sp>
      <p:sp>
        <p:nvSpPr>
          <p:cNvPr id="3" name="Shape 1"/>
          <p:cNvSpPr/>
          <p:nvPr/>
        </p:nvSpPr>
        <p:spPr>
          <a:xfrm>
            <a:off x="661475" y="1488480"/>
            <a:ext cx="10868745" cy="3881735"/>
          </a:xfrm>
          <a:prstGeom prst="roundRect">
            <a:avLst>
              <a:gd name="adj" fmla="val 730"/>
            </a:avLst>
          </a:prstGeom>
          <a:noFill/>
          <a:ln w="6350">
            <a:solidFill>
              <a:srgbClr val="000000">
                <a:alpha val="8000"/>
              </a:srgbClr>
            </a:solidFill>
            <a:prstDash val="solid"/>
          </a:ln>
        </p:spPr>
        <p:txBody>
          <a:bodyPr/>
          <a:lstStyle/>
          <a:p>
            <a:endParaRPr lang="he-IL"/>
          </a:p>
        </p:txBody>
      </p:sp>
      <p:sp>
        <p:nvSpPr>
          <p:cNvPr id="4" name="Shape 2"/>
          <p:cNvSpPr/>
          <p:nvPr/>
        </p:nvSpPr>
        <p:spPr>
          <a:xfrm>
            <a:off x="667825" y="1494830"/>
            <a:ext cx="10854954" cy="617438"/>
          </a:xfrm>
          <a:prstGeom prst="rect">
            <a:avLst/>
          </a:prstGeom>
          <a:solidFill>
            <a:srgbClr val="FFFFFF">
              <a:alpha val="4000"/>
            </a:srgbClr>
          </a:solidFill>
          <a:ln/>
        </p:spPr>
        <p:txBody>
          <a:bodyPr/>
          <a:lstStyle/>
          <a:p>
            <a:endParaRPr lang="he-IL"/>
          </a:p>
        </p:txBody>
      </p:sp>
      <p:sp>
        <p:nvSpPr>
          <p:cNvPr id="5" name="Text 3"/>
          <p:cNvSpPr/>
          <p:nvPr/>
        </p:nvSpPr>
        <p:spPr>
          <a:xfrm>
            <a:off x="858022" y="1614587"/>
            <a:ext cx="3846317" cy="377924"/>
          </a:xfrm>
          <a:prstGeom prst="rect">
            <a:avLst/>
          </a:prstGeom>
          <a:noFill/>
          <a:ln/>
        </p:spPr>
        <p:txBody>
          <a:bodyPr wrap="none" lIns="0" tIns="0" rIns="0" bIns="0" rtlCol="0" anchor="t"/>
          <a:lstStyle/>
          <a:p>
            <a:pPr marL="0" indent="0" algn="l">
              <a:lnSpc>
                <a:spcPct val="133000"/>
              </a:lnSpc>
              <a:buNone/>
            </a:pPr>
            <a:r>
              <a:rPr lang="en-US" sz="1850" b="1" dirty="0">
                <a:solidFill>
                  <a:srgbClr val="15213F"/>
                </a:solidFill>
                <a:latin typeface="Roboto Bold" pitchFamily="34" charset="0"/>
                <a:ea typeface="Roboto Bold" pitchFamily="34" charset="-122"/>
                <a:cs typeface="Roboto Bold" pitchFamily="34" charset="-120"/>
              </a:rPr>
              <a:t>Test Case</a:t>
            </a:r>
            <a:endParaRPr lang="en-US" sz="1850" dirty="0"/>
          </a:p>
        </p:txBody>
      </p:sp>
      <p:sp>
        <p:nvSpPr>
          <p:cNvPr id="6" name="Text 4"/>
          <p:cNvSpPr/>
          <p:nvPr/>
        </p:nvSpPr>
        <p:spPr>
          <a:xfrm>
            <a:off x="4479118" y="1614587"/>
            <a:ext cx="3843142" cy="377924"/>
          </a:xfrm>
          <a:prstGeom prst="rect">
            <a:avLst/>
          </a:prstGeom>
          <a:noFill/>
          <a:ln/>
        </p:spPr>
        <p:txBody>
          <a:bodyPr wrap="none" lIns="0" tIns="0" rIns="0" bIns="0" rtlCol="0" anchor="t"/>
          <a:lstStyle/>
          <a:p>
            <a:pPr marL="0" indent="0" algn="l">
              <a:lnSpc>
                <a:spcPct val="133000"/>
              </a:lnSpc>
              <a:buNone/>
            </a:pPr>
            <a:r>
              <a:rPr lang="en-US" sz="1850" b="1" dirty="0">
                <a:solidFill>
                  <a:srgbClr val="15213F"/>
                </a:solidFill>
                <a:latin typeface="Roboto Bold" pitchFamily="34" charset="0"/>
                <a:ea typeface="Roboto Bold" pitchFamily="34" charset="-122"/>
                <a:cs typeface="Roboto Bold" pitchFamily="34" charset="-120"/>
              </a:rPr>
              <a:t>What Is Tested</a:t>
            </a:r>
            <a:endParaRPr lang="en-US" sz="1850" dirty="0"/>
          </a:p>
        </p:txBody>
      </p:sp>
      <p:sp>
        <p:nvSpPr>
          <p:cNvPr id="7" name="Text 5"/>
          <p:cNvSpPr/>
          <p:nvPr/>
        </p:nvSpPr>
        <p:spPr>
          <a:xfrm>
            <a:off x="8097040" y="1614587"/>
            <a:ext cx="3846317" cy="377924"/>
          </a:xfrm>
          <a:prstGeom prst="rect">
            <a:avLst/>
          </a:prstGeom>
          <a:noFill/>
          <a:ln/>
        </p:spPr>
        <p:txBody>
          <a:bodyPr wrap="none" lIns="0" tIns="0" rIns="0" bIns="0" rtlCol="0" anchor="t"/>
          <a:lstStyle/>
          <a:p>
            <a:pPr marL="0" indent="0" algn="l">
              <a:lnSpc>
                <a:spcPct val="133000"/>
              </a:lnSpc>
              <a:buNone/>
            </a:pPr>
            <a:r>
              <a:rPr lang="en-US" sz="1850" b="1" dirty="0">
                <a:solidFill>
                  <a:srgbClr val="15213F"/>
                </a:solidFill>
                <a:latin typeface="Roboto Bold" pitchFamily="34" charset="0"/>
                <a:ea typeface="Roboto Bold" pitchFamily="34" charset="-122"/>
                <a:cs typeface="Roboto Bold" pitchFamily="34" charset="-120"/>
              </a:rPr>
              <a:t>Pass Condition</a:t>
            </a:r>
            <a:endParaRPr lang="en-US" sz="1850" dirty="0"/>
          </a:p>
        </p:txBody>
      </p:sp>
      <p:sp>
        <p:nvSpPr>
          <p:cNvPr id="8" name="Shape 6"/>
          <p:cNvSpPr/>
          <p:nvPr/>
        </p:nvSpPr>
        <p:spPr>
          <a:xfrm>
            <a:off x="667825" y="2112268"/>
            <a:ext cx="10854954" cy="541933"/>
          </a:xfrm>
          <a:prstGeom prst="rect">
            <a:avLst/>
          </a:prstGeom>
          <a:solidFill>
            <a:srgbClr val="000000">
              <a:alpha val="4000"/>
            </a:srgbClr>
          </a:solidFill>
          <a:ln/>
        </p:spPr>
        <p:txBody>
          <a:bodyPr/>
          <a:lstStyle/>
          <a:p>
            <a:endParaRPr lang="he-IL"/>
          </a:p>
        </p:txBody>
      </p:sp>
      <p:sp>
        <p:nvSpPr>
          <p:cNvPr id="9" name="Text 7"/>
          <p:cNvSpPr/>
          <p:nvPr/>
        </p:nvSpPr>
        <p:spPr>
          <a:xfrm>
            <a:off x="858022" y="2232025"/>
            <a:ext cx="3846317"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Document Ingestion</a:t>
            </a:r>
            <a:endParaRPr lang="en-US" sz="1450" dirty="0"/>
          </a:p>
        </p:txBody>
      </p:sp>
      <p:sp>
        <p:nvSpPr>
          <p:cNvPr id="10" name="Text 8"/>
          <p:cNvSpPr/>
          <p:nvPr/>
        </p:nvSpPr>
        <p:spPr>
          <a:xfrm>
            <a:off x="4479118" y="2232025"/>
            <a:ext cx="3843142"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WhatsApp file upload</a:t>
            </a:r>
            <a:endParaRPr lang="en-US" sz="1450" dirty="0"/>
          </a:p>
        </p:txBody>
      </p:sp>
      <p:sp>
        <p:nvSpPr>
          <p:cNvPr id="11" name="Text 9"/>
          <p:cNvSpPr/>
          <p:nvPr/>
        </p:nvSpPr>
        <p:spPr>
          <a:xfrm>
            <a:off x="8097040" y="2232025"/>
            <a:ext cx="384631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File successfully received</a:t>
            </a:r>
            <a:endParaRPr lang="en-US" sz="1450" dirty="0"/>
          </a:p>
        </p:txBody>
      </p:sp>
      <p:sp>
        <p:nvSpPr>
          <p:cNvPr id="12" name="Shape 10"/>
          <p:cNvSpPr/>
          <p:nvPr/>
        </p:nvSpPr>
        <p:spPr>
          <a:xfrm>
            <a:off x="667825" y="2654201"/>
            <a:ext cx="10854954" cy="541933"/>
          </a:xfrm>
          <a:prstGeom prst="rect">
            <a:avLst/>
          </a:prstGeom>
          <a:solidFill>
            <a:srgbClr val="FFFFFF">
              <a:alpha val="4000"/>
            </a:srgbClr>
          </a:solidFill>
          <a:ln/>
        </p:spPr>
        <p:txBody>
          <a:bodyPr/>
          <a:lstStyle/>
          <a:p>
            <a:endParaRPr lang="he-IL"/>
          </a:p>
        </p:txBody>
      </p:sp>
      <p:sp>
        <p:nvSpPr>
          <p:cNvPr id="13" name="Text 11"/>
          <p:cNvSpPr/>
          <p:nvPr/>
        </p:nvSpPr>
        <p:spPr>
          <a:xfrm>
            <a:off x="858022" y="2773958"/>
            <a:ext cx="3846317"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OCR Processing</a:t>
            </a:r>
            <a:endParaRPr lang="en-US" sz="1450" dirty="0"/>
          </a:p>
        </p:txBody>
      </p:sp>
      <p:sp>
        <p:nvSpPr>
          <p:cNvPr id="14" name="Text 12"/>
          <p:cNvSpPr/>
          <p:nvPr/>
        </p:nvSpPr>
        <p:spPr>
          <a:xfrm>
            <a:off x="4479118" y="2773958"/>
            <a:ext cx="3843142"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Text extraction accuracy</a:t>
            </a:r>
            <a:endParaRPr lang="en-US" sz="1450" dirty="0"/>
          </a:p>
        </p:txBody>
      </p:sp>
      <p:sp>
        <p:nvSpPr>
          <p:cNvPr id="15" name="Text 13"/>
          <p:cNvSpPr/>
          <p:nvPr/>
        </p:nvSpPr>
        <p:spPr>
          <a:xfrm>
            <a:off x="8097040" y="2773958"/>
            <a:ext cx="384631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Legible text correctly converted</a:t>
            </a:r>
            <a:endParaRPr lang="en-US" sz="1450" dirty="0"/>
          </a:p>
        </p:txBody>
      </p:sp>
      <p:sp>
        <p:nvSpPr>
          <p:cNvPr id="16" name="Shape 14"/>
          <p:cNvSpPr/>
          <p:nvPr/>
        </p:nvSpPr>
        <p:spPr>
          <a:xfrm>
            <a:off x="667825" y="3196134"/>
            <a:ext cx="10854954" cy="541933"/>
          </a:xfrm>
          <a:prstGeom prst="rect">
            <a:avLst/>
          </a:prstGeom>
          <a:solidFill>
            <a:srgbClr val="000000">
              <a:alpha val="4000"/>
            </a:srgbClr>
          </a:solidFill>
          <a:ln/>
        </p:spPr>
        <p:txBody>
          <a:bodyPr/>
          <a:lstStyle/>
          <a:p>
            <a:endParaRPr lang="he-IL"/>
          </a:p>
        </p:txBody>
      </p:sp>
      <p:sp>
        <p:nvSpPr>
          <p:cNvPr id="17" name="Text 15"/>
          <p:cNvSpPr/>
          <p:nvPr/>
        </p:nvSpPr>
        <p:spPr>
          <a:xfrm>
            <a:off x="858022" y="3315891"/>
            <a:ext cx="3846317"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Data Classification</a:t>
            </a:r>
            <a:endParaRPr lang="en-US" sz="1450" dirty="0"/>
          </a:p>
        </p:txBody>
      </p:sp>
      <p:sp>
        <p:nvSpPr>
          <p:cNvPr id="18" name="Text 16"/>
          <p:cNvSpPr/>
          <p:nvPr/>
        </p:nvSpPr>
        <p:spPr>
          <a:xfrm>
            <a:off x="4479118" y="3315891"/>
            <a:ext cx="3843142"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Document type identification</a:t>
            </a:r>
            <a:endParaRPr lang="en-US" sz="1450" dirty="0"/>
          </a:p>
        </p:txBody>
      </p:sp>
      <p:sp>
        <p:nvSpPr>
          <p:cNvPr id="19" name="Text 17"/>
          <p:cNvSpPr/>
          <p:nvPr/>
        </p:nvSpPr>
        <p:spPr>
          <a:xfrm>
            <a:off x="8097040" y="3315891"/>
            <a:ext cx="384631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Correctly labeled as invoice</a:t>
            </a:r>
            <a:endParaRPr lang="en-US" sz="1450" dirty="0"/>
          </a:p>
        </p:txBody>
      </p:sp>
      <p:sp>
        <p:nvSpPr>
          <p:cNvPr id="20" name="Shape 18"/>
          <p:cNvSpPr/>
          <p:nvPr/>
        </p:nvSpPr>
        <p:spPr>
          <a:xfrm>
            <a:off x="667825" y="3738066"/>
            <a:ext cx="10854954" cy="541933"/>
          </a:xfrm>
          <a:prstGeom prst="rect">
            <a:avLst/>
          </a:prstGeom>
          <a:solidFill>
            <a:srgbClr val="FFFFFF">
              <a:alpha val="4000"/>
            </a:srgbClr>
          </a:solidFill>
          <a:ln/>
        </p:spPr>
        <p:txBody>
          <a:bodyPr/>
          <a:lstStyle/>
          <a:p>
            <a:endParaRPr lang="he-IL"/>
          </a:p>
        </p:txBody>
      </p:sp>
      <p:sp>
        <p:nvSpPr>
          <p:cNvPr id="21" name="Text 19"/>
          <p:cNvSpPr/>
          <p:nvPr/>
        </p:nvSpPr>
        <p:spPr>
          <a:xfrm>
            <a:off x="858022" y="3857823"/>
            <a:ext cx="3846317"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System Integration</a:t>
            </a:r>
            <a:endParaRPr lang="en-US" sz="1450" dirty="0"/>
          </a:p>
        </p:txBody>
      </p:sp>
      <p:sp>
        <p:nvSpPr>
          <p:cNvPr id="22" name="Text 20"/>
          <p:cNvSpPr/>
          <p:nvPr/>
        </p:nvSpPr>
        <p:spPr>
          <a:xfrm>
            <a:off x="4479118" y="3857823"/>
            <a:ext cx="3843142"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API data transfer</a:t>
            </a:r>
            <a:endParaRPr lang="en-US" sz="1450" dirty="0"/>
          </a:p>
        </p:txBody>
      </p:sp>
      <p:sp>
        <p:nvSpPr>
          <p:cNvPr id="23" name="Text 21"/>
          <p:cNvSpPr/>
          <p:nvPr/>
        </p:nvSpPr>
        <p:spPr>
          <a:xfrm>
            <a:off x="8097040" y="3857823"/>
            <a:ext cx="384631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Data reaches accounting database</a:t>
            </a:r>
            <a:endParaRPr lang="en-US" sz="1450" dirty="0"/>
          </a:p>
        </p:txBody>
      </p:sp>
      <p:sp>
        <p:nvSpPr>
          <p:cNvPr id="24" name="Shape 22"/>
          <p:cNvSpPr/>
          <p:nvPr/>
        </p:nvSpPr>
        <p:spPr>
          <a:xfrm>
            <a:off x="667825" y="4279999"/>
            <a:ext cx="10854954" cy="541933"/>
          </a:xfrm>
          <a:prstGeom prst="rect">
            <a:avLst/>
          </a:prstGeom>
          <a:solidFill>
            <a:srgbClr val="000000">
              <a:alpha val="4000"/>
            </a:srgbClr>
          </a:solidFill>
          <a:ln/>
        </p:spPr>
        <p:txBody>
          <a:bodyPr/>
          <a:lstStyle/>
          <a:p>
            <a:endParaRPr lang="he-IL"/>
          </a:p>
        </p:txBody>
      </p:sp>
      <p:sp>
        <p:nvSpPr>
          <p:cNvPr id="25" name="Text 23"/>
          <p:cNvSpPr/>
          <p:nvPr/>
        </p:nvSpPr>
        <p:spPr>
          <a:xfrm>
            <a:off x="858022" y="4399756"/>
            <a:ext cx="3846317"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User Interface</a:t>
            </a:r>
            <a:endParaRPr lang="en-US" sz="1450" dirty="0"/>
          </a:p>
        </p:txBody>
      </p:sp>
      <p:sp>
        <p:nvSpPr>
          <p:cNvPr id="26" name="Text 24"/>
          <p:cNvSpPr/>
          <p:nvPr/>
        </p:nvSpPr>
        <p:spPr>
          <a:xfrm>
            <a:off x="4479118" y="4399756"/>
            <a:ext cx="3843142"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Dashboard metrics display</a:t>
            </a:r>
            <a:endParaRPr lang="en-US" sz="1450" dirty="0"/>
          </a:p>
        </p:txBody>
      </p:sp>
      <p:sp>
        <p:nvSpPr>
          <p:cNvPr id="27" name="Text 25"/>
          <p:cNvSpPr/>
          <p:nvPr/>
        </p:nvSpPr>
        <p:spPr>
          <a:xfrm>
            <a:off x="8097040" y="4399756"/>
            <a:ext cx="384631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Real-time updates visible</a:t>
            </a:r>
            <a:endParaRPr lang="en-US" sz="1450" dirty="0"/>
          </a:p>
        </p:txBody>
      </p:sp>
      <p:sp>
        <p:nvSpPr>
          <p:cNvPr id="28" name="Shape 26"/>
          <p:cNvSpPr/>
          <p:nvPr/>
        </p:nvSpPr>
        <p:spPr>
          <a:xfrm>
            <a:off x="667825" y="4821932"/>
            <a:ext cx="10854954" cy="541933"/>
          </a:xfrm>
          <a:prstGeom prst="rect">
            <a:avLst/>
          </a:prstGeom>
          <a:solidFill>
            <a:srgbClr val="FFFFFF">
              <a:alpha val="4000"/>
            </a:srgbClr>
          </a:solidFill>
          <a:ln/>
        </p:spPr>
        <p:txBody>
          <a:bodyPr/>
          <a:lstStyle/>
          <a:p>
            <a:endParaRPr lang="he-IL"/>
          </a:p>
        </p:txBody>
      </p:sp>
      <p:sp>
        <p:nvSpPr>
          <p:cNvPr id="29" name="Text 27"/>
          <p:cNvSpPr/>
          <p:nvPr/>
        </p:nvSpPr>
        <p:spPr>
          <a:xfrm>
            <a:off x="858022" y="4941689"/>
            <a:ext cx="3846317"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Security</a:t>
            </a:r>
            <a:endParaRPr lang="en-US" sz="1450" dirty="0"/>
          </a:p>
        </p:txBody>
      </p:sp>
      <p:sp>
        <p:nvSpPr>
          <p:cNvPr id="30" name="Text 28"/>
          <p:cNvSpPr/>
          <p:nvPr/>
        </p:nvSpPr>
        <p:spPr>
          <a:xfrm>
            <a:off x="4479118" y="4941689"/>
            <a:ext cx="3843142"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User token authentication</a:t>
            </a:r>
            <a:endParaRPr lang="en-US" sz="1450" dirty="0"/>
          </a:p>
        </p:txBody>
      </p:sp>
      <p:sp>
        <p:nvSpPr>
          <p:cNvPr id="31" name="Text 29"/>
          <p:cNvSpPr/>
          <p:nvPr/>
        </p:nvSpPr>
        <p:spPr>
          <a:xfrm>
            <a:off x="8097040" y="4941689"/>
            <a:ext cx="384631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Unauthorized access blocked</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519807"/>
            <a:ext cx="8410464" cy="590649"/>
          </a:xfrm>
          <a:prstGeom prst="rect">
            <a:avLst/>
          </a:prstGeom>
          <a:noFill/>
          <a:ln/>
        </p:spPr>
        <p:txBody>
          <a:bodyPr wrap="none" lIns="0" tIns="0" rIns="0" bIns="0" rtlCol="0" anchor="t"/>
          <a:lstStyle/>
          <a:p>
            <a:pPr marL="0" indent="0" algn="l">
              <a:lnSpc>
                <a:spcPct val="104000"/>
              </a:lnSpc>
              <a:buNone/>
            </a:pPr>
            <a:r>
              <a:rPr lang="en-US" sz="3700" b="1" dirty="0">
                <a:solidFill>
                  <a:srgbClr val="3257B8"/>
                </a:solidFill>
                <a:latin typeface="Roboto Slab Bold" pitchFamily="34" charset="0"/>
                <a:ea typeface="Roboto Slab Bold" pitchFamily="34" charset="-122"/>
                <a:cs typeface="Roboto Slab Bold" pitchFamily="34" charset="-120"/>
              </a:rPr>
              <a:t>Key Performance Indicators - KPIs</a:t>
            </a:r>
            <a:endParaRPr lang="en-US" sz="3700" dirty="0"/>
          </a:p>
        </p:txBody>
      </p:sp>
      <p:sp>
        <p:nvSpPr>
          <p:cNvPr id="3" name="Shape 1"/>
          <p:cNvSpPr/>
          <p:nvPr/>
        </p:nvSpPr>
        <p:spPr>
          <a:xfrm>
            <a:off x="661475" y="1488480"/>
            <a:ext cx="10868745" cy="3327202"/>
          </a:xfrm>
          <a:prstGeom prst="roundRect">
            <a:avLst>
              <a:gd name="adj" fmla="val 852"/>
            </a:avLst>
          </a:prstGeom>
          <a:noFill/>
          <a:ln w="6350">
            <a:solidFill>
              <a:srgbClr val="000000">
                <a:alpha val="8000"/>
              </a:srgbClr>
            </a:solidFill>
            <a:prstDash val="solid"/>
          </a:ln>
        </p:spPr>
        <p:txBody>
          <a:bodyPr/>
          <a:lstStyle/>
          <a:p>
            <a:endParaRPr lang="he-IL"/>
          </a:p>
        </p:txBody>
      </p:sp>
      <p:sp>
        <p:nvSpPr>
          <p:cNvPr id="4" name="Shape 2"/>
          <p:cNvSpPr/>
          <p:nvPr/>
        </p:nvSpPr>
        <p:spPr>
          <a:xfrm>
            <a:off x="667825" y="1494830"/>
            <a:ext cx="10856046" cy="541933"/>
          </a:xfrm>
          <a:prstGeom prst="rect">
            <a:avLst/>
          </a:prstGeom>
          <a:solidFill>
            <a:srgbClr val="FFFFFF">
              <a:alpha val="4000"/>
            </a:srgbClr>
          </a:solidFill>
          <a:ln/>
        </p:spPr>
        <p:txBody>
          <a:bodyPr/>
          <a:lstStyle/>
          <a:p>
            <a:endParaRPr lang="he-IL"/>
          </a:p>
        </p:txBody>
      </p:sp>
      <p:sp>
        <p:nvSpPr>
          <p:cNvPr id="5" name="Text 3"/>
          <p:cNvSpPr/>
          <p:nvPr/>
        </p:nvSpPr>
        <p:spPr>
          <a:xfrm>
            <a:off x="856931" y="1614587"/>
            <a:ext cx="5456597"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Metric</a:t>
            </a:r>
            <a:endParaRPr lang="en-US" sz="1450" dirty="0"/>
          </a:p>
        </p:txBody>
      </p:sp>
      <p:sp>
        <p:nvSpPr>
          <p:cNvPr id="6" name="Text 4"/>
          <p:cNvSpPr/>
          <p:nvPr/>
        </p:nvSpPr>
        <p:spPr>
          <a:xfrm>
            <a:off x="6088307" y="1614587"/>
            <a:ext cx="5856141"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Target</a:t>
            </a:r>
            <a:endParaRPr lang="en-US" sz="1450" dirty="0"/>
          </a:p>
        </p:txBody>
      </p:sp>
      <p:sp>
        <p:nvSpPr>
          <p:cNvPr id="7" name="Shape 5"/>
          <p:cNvSpPr/>
          <p:nvPr/>
        </p:nvSpPr>
        <p:spPr>
          <a:xfrm>
            <a:off x="667825" y="2036762"/>
            <a:ext cx="10856046" cy="844352"/>
          </a:xfrm>
          <a:prstGeom prst="rect">
            <a:avLst/>
          </a:prstGeom>
          <a:solidFill>
            <a:srgbClr val="000000">
              <a:alpha val="4000"/>
            </a:srgbClr>
          </a:solidFill>
          <a:ln/>
        </p:spPr>
        <p:txBody>
          <a:bodyPr/>
          <a:lstStyle/>
          <a:p>
            <a:endParaRPr lang="he-IL"/>
          </a:p>
        </p:txBody>
      </p:sp>
      <p:sp>
        <p:nvSpPr>
          <p:cNvPr id="8" name="Text 6"/>
          <p:cNvSpPr/>
          <p:nvPr/>
        </p:nvSpPr>
        <p:spPr>
          <a:xfrm>
            <a:off x="856931" y="2156520"/>
            <a:ext cx="545659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OCR Accuracy</a:t>
            </a:r>
            <a:endParaRPr lang="en-US" sz="1450" dirty="0"/>
          </a:p>
        </p:txBody>
      </p:sp>
      <p:sp>
        <p:nvSpPr>
          <p:cNvPr id="9" name="Text 7"/>
          <p:cNvSpPr/>
          <p:nvPr/>
        </p:nvSpPr>
        <p:spPr>
          <a:xfrm>
            <a:off x="6088307" y="2156520"/>
            <a:ext cx="5246556"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 85% accuracy</a:t>
            </a:r>
            <a:r>
              <a:rPr lang="en-US" sz="1450" dirty="0">
                <a:solidFill>
                  <a:srgbClr val="15213F"/>
                </a:solidFill>
                <a:latin typeface="Roboto" pitchFamily="34" charset="0"/>
                <a:ea typeface="Roboto" pitchFamily="34" charset="-122"/>
                <a:cs typeface="Roboto" pitchFamily="34" charset="-120"/>
              </a:rPr>
              <a:t> in extracting key document fields after accountant verification.</a:t>
            </a:r>
            <a:endParaRPr lang="en-US" sz="1450" dirty="0"/>
          </a:p>
        </p:txBody>
      </p:sp>
      <p:sp>
        <p:nvSpPr>
          <p:cNvPr id="10" name="Shape 8"/>
          <p:cNvSpPr/>
          <p:nvPr/>
        </p:nvSpPr>
        <p:spPr>
          <a:xfrm>
            <a:off x="667825" y="2881114"/>
            <a:ext cx="10856046" cy="541933"/>
          </a:xfrm>
          <a:prstGeom prst="rect">
            <a:avLst/>
          </a:prstGeom>
          <a:solidFill>
            <a:srgbClr val="FFFFFF">
              <a:alpha val="4000"/>
            </a:srgbClr>
          </a:solidFill>
          <a:ln/>
        </p:spPr>
        <p:txBody>
          <a:bodyPr/>
          <a:lstStyle/>
          <a:p>
            <a:endParaRPr lang="he-IL"/>
          </a:p>
        </p:txBody>
      </p:sp>
      <p:sp>
        <p:nvSpPr>
          <p:cNvPr id="11" name="Text 9"/>
          <p:cNvSpPr/>
          <p:nvPr/>
        </p:nvSpPr>
        <p:spPr>
          <a:xfrm>
            <a:off x="856931" y="3000871"/>
            <a:ext cx="545659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Manual Documents Entry Reduction</a:t>
            </a:r>
            <a:endParaRPr lang="en-US" sz="1450" dirty="0"/>
          </a:p>
        </p:txBody>
      </p:sp>
      <p:sp>
        <p:nvSpPr>
          <p:cNvPr id="12" name="Text 10"/>
          <p:cNvSpPr/>
          <p:nvPr/>
        </p:nvSpPr>
        <p:spPr>
          <a:xfrm>
            <a:off x="6088307" y="3000871"/>
            <a:ext cx="5856141"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 </a:t>
            </a:r>
            <a:r>
              <a:rPr lang="en-US" sz="1450" b="1" dirty="0">
                <a:solidFill>
                  <a:srgbClr val="15213F"/>
                </a:solidFill>
                <a:latin typeface="Roboto Bold" pitchFamily="34" charset="0"/>
                <a:ea typeface="Roboto Bold" pitchFamily="34" charset="-122"/>
                <a:cs typeface="Roboto Bold" pitchFamily="34" charset="-120"/>
              </a:rPr>
              <a:t>60</a:t>
            </a:r>
            <a:r>
              <a:rPr lang="en-US" sz="1450" dirty="0">
                <a:solidFill>
                  <a:srgbClr val="15213F"/>
                </a:solidFill>
                <a:latin typeface="Roboto" pitchFamily="34" charset="0"/>
                <a:ea typeface="Roboto" pitchFamily="34" charset="-122"/>
                <a:cs typeface="Roboto" pitchFamily="34" charset="-120"/>
              </a:rPr>
              <a:t>% reduction</a:t>
            </a:r>
            <a:endParaRPr lang="en-US" sz="1450" dirty="0"/>
          </a:p>
        </p:txBody>
      </p:sp>
      <p:sp>
        <p:nvSpPr>
          <p:cNvPr id="13" name="Shape 11"/>
          <p:cNvSpPr/>
          <p:nvPr/>
        </p:nvSpPr>
        <p:spPr>
          <a:xfrm>
            <a:off x="667825" y="3423047"/>
            <a:ext cx="10856046" cy="541933"/>
          </a:xfrm>
          <a:prstGeom prst="rect">
            <a:avLst/>
          </a:prstGeom>
          <a:solidFill>
            <a:srgbClr val="000000">
              <a:alpha val="4000"/>
            </a:srgbClr>
          </a:solidFill>
          <a:ln/>
        </p:spPr>
        <p:txBody>
          <a:bodyPr/>
          <a:lstStyle/>
          <a:p>
            <a:endParaRPr lang="he-IL"/>
          </a:p>
        </p:txBody>
      </p:sp>
      <p:sp>
        <p:nvSpPr>
          <p:cNvPr id="14" name="Text 12"/>
          <p:cNvSpPr/>
          <p:nvPr/>
        </p:nvSpPr>
        <p:spPr>
          <a:xfrm>
            <a:off x="856931" y="3542804"/>
            <a:ext cx="545659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Document Processing Time</a:t>
            </a:r>
            <a:endParaRPr lang="en-US" sz="1450" dirty="0"/>
          </a:p>
        </p:txBody>
      </p:sp>
      <p:sp>
        <p:nvSpPr>
          <p:cNvPr id="15" name="Text 13"/>
          <p:cNvSpPr/>
          <p:nvPr/>
        </p:nvSpPr>
        <p:spPr>
          <a:xfrm>
            <a:off x="6088307" y="3542804"/>
            <a:ext cx="5856141"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 </a:t>
            </a:r>
            <a:r>
              <a:rPr lang="en-US" sz="1450" b="1" dirty="0">
                <a:solidFill>
                  <a:srgbClr val="15213F"/>
                </a:solidFill>
                <a:latin typeface="Roboto Bold" pitchFamily="34" charset="0"/>
                <a:ea typeface="Roboto Bold" pitchFamily="34" charset="-122"/>
                <a:cs typeface="Roboto Bold" pitchFamily="34" charset="-120"/>
              </a:rPr>
              <a:t>30 seconds</a:t>
            </a:r>
            <a:r>
              <a:rPr lang="en-US" sz="1450" dirty="0">
                <a:solidFill>
                  <a:srgbClr val="15213F"/>
                </a:solidFill>
                <a:latin typeface="Roboto" pitchFamily="34" charset="0"/>
                <a:ea typeface="Roboto" pitchFamily="34" charset="-122"/>
                <a:cs typeface="Roboto" pitchFamily="34" charset="-120"/>
              </a:rPr>
              <a:t> from document upload to dashboard availability.</a:t>
            </a:r>
            <a:endParaRPr lang="en-US" sz="1450" dirty="0"/>
          </a:p>
        </p:txBody>
      </p:sp>
      <p:sp>
        <p:nvSpPr>
          <p:cNvPr id="16" name="Shape 14"/>
          <p:cNvSpPr/>
          <p:nvPr/>
        </p:nvSpPr>
        <p:spPr>
          <a:xfrm>
            <a:off x="667825" y="3964980"/>
            <a:ext cx="10856046" cy="844352"/>
          </a:xfrm>
          <a:prstGeom prst="rect">
            <a:avLst/>
          </a:prstGeom>
          <a:solidFill>
            <a:srgbClr val="FFFFFF">
              <a:alpha val="4000"/>
            </a:srgbClr>
          </a:solidFill>
          <a:ln/>
        </p:spPr>
        <p:txBody>
          <a:bodyPr/>
          <a:lstStyle/>
          <a:p>
            <a:endParaRPr lang="he-IL"/>
          </a:p>
        </p:txBody>
      </p:sp>
      <p:sp>
        <p:nvSpPr>
          <p:cNvPr id="17" name="Text 15"/>
          <p:cNvSpPr/>
          <p:nvPr/>
        </p:nvSpPr>
        <p:spPr>
          <a:xfrm>
            <a:off x="856931" y="4084737"/>
            <a:ext cx="5456597"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Document Submission Completion Rate</a:t>
            </a:r>
            <a:endParaRPr lang="en-US" sz="1450" dirty="0"/>
          </a:p>
        </p:txBody>
      </p:sp>
      <p:sp>
        <p:nvSpPr>
          <p:cNvPr id="18" name="Text 16"/>
          <p:cNvSpPr/>
          <p:nvPr/>
        </p:nvSpPr>
        <p:spPr>
          <a:xfrm>
            <a:off x="6088307" y="4084737"/>
            <a:ext cx="5246556"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 80% of clients</a:t>
            </a:r>
            <a:r>
              <a:rPr lang="en-US" sz="1450" dirty="0">
                <a:solidFill>
                  <a:srgbClr val="15213F"/>
                </a:solidFill>
                <a:latin typeface="Roboto" pitchFamily="34" charset="0"/>
                <a:ea typeface="Roboto" pitchFamily="34" charset="-122"/>
                <a:cs typeface="Roboto" pitchFamily="34" charset="-120"/>
              </a:rPr>
              <a:t> complete monthly submission before the deadline.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065583" y="1973263"/>
            <a:ext cx="10060430" cy="1181398"/>
          </a:xfrm>
          <a:prstGeom prst="rect">
            <a:avLst/>
          </a:prstGeom>
          <a:noFill/>
          <a:ln/>
        </p:spPr>
        <p:txBody>
          <a:bodyPr wrap="none" lIns="0" tIns="0" rIns="0" bIns="0" rtlCol="0" anchor="t"/>
          <a:lstStyle/>
          <a:p>
            <a:pPr marL="0" indent="0" algn="ctr">
              <a:lnSpc>
                <a:spcPct val="104000"/>
              </a:lnSpc>
              <a:buNone/>
            </a:pPr>
            <a:r>
              <a:rPr lang="en-US" sz="7400" b="1" dirty="0">
                <a:solidFill>
                  <a:srgbClr val="3257B8"/>
                </a:solidFill>
                <a:latin typeface="Roboto Slab Bold" pitchFamily="34" charset="0"/>
                <a:ea typeface="Roboto Slab Bold" pitchFamily="34" charset="-122"/>
                <a:cs typeface="Roboto Slab Bold" pitchFamily="34" charset="-120"/>
              </a:rPr>
              <a:t>Thank You!</a:t>
            </a:r>
            <a:endParaRPr lang="en-US" sz="7400" dirty="0"/>
          </a:p>
        </p:txBody>
      </p:sp>
      <p:sp>
        <p:nvSpPr>
          <p:cNvPr id="3" name="Shape 1"/>
          <p:cNvSpPr/>
          <p:nvPr/>
        </p:nvSpPr>
        <p:spPr>
          <a:xfrm>
            <a:off x="661475" y="3579912"/>
            <a:ext cx="10868745" cy="25400"/>
          </a:xfrm>
          <a:prstGeom prst="roundRect">
            <a:avLst>
              <a:gd name="adj" fmla="val 59999"/>
            </a:avLst>
          </a:prstGeom>
          <a:solidFill>
            <a:srgbClr val="15213F">
              <a:alpha val="50000"/>
            </a:srgbClr>
          </a:solidFill>
          <a:ln/>
        </p:spPr>
        <p:txBody>
          <a:bodyPr/>
          <a:lstStyle/>
          <a:p>
            <a:endParaRPr lang="he-IL"/>
          </a:p>
        </p:txBody>
      </p:sp>
      <p:sp>
        <p:nvSpPr>
          <p:cNvPr id="4" name="Shape 2"/>
          <p:cNvSpPr/>
          <p:nvPr/>
        </p:nvSpPr>
        <p:spPr>
          <a:xfrm>
            <a:off x="661475" y="3865166"/>
            <a:ext cx="10868745" cy="1019473"/>
          </a:xfrm>
          <a:prstGeom prst="roundRect">
            <a:avLst>
              <a:gd name="adj" fmla="val 2781"/>
            </a:avLst>
          </a:prstGeom>
          <a:solidFill>
            <a:srgbClr val="FBFCFE"/>
          </a:solidFill>
          <a:ln w="25399">
            <a:solidFill>
              <a:srgbClr val="CFD2D8"/>
            </a:solidFill>
            <a:prstDash val="solid"/>
          </a:ln>
        </p:spPr>
        <p:txBody>
          <a:bodyPr/>
          <a:lstStyle/>
          <a:p>
            <a:endParaRPr lang="he-IL"/>
          </a:p>
        </p:txBody>
      </p:sp>
      <p:sp>
        <p:nvSpPr>
          <p:cNvPr id="5" name="Text 3"/>
          <p:cNvSpPr/>
          <p:nvPr/>
        </p:nvSpPr>
        <p:spPr>
          <a:xfrm>
            <a:off x="3733111" y="4079577"/>
            <a:ext cx="4725373" cy="590649"/>
          </a:xfrm>
          <a:prstGeom prst="rect">
            <a:avLst/>
          </a:prstGeom>
          <a:noFill/>
          <a:ln/>
        </p:spPr>
        <p:txBody>
          <a:bodyPr wrap="none" lIns="0" tIns="0" rIns="0" bIns="0" rtlCol="0" anchor="t"/>
          <a:lstStyle/>
          <a:p>
            <a:pPr marL="0" indent="0" algn="ctr">
              <a:lnSpc>
                <a:spcPct val="104000"/>
              </a:lnSpc>
              <a:buNone/>
            </a:pPr>
            <a:r>
              <a:rPr lang="en-US" sz="3700" b="1" dirty="0">
                <a:solidFill>
                  <a:srgbClr val="15213F"/>
                </a:solidFill>
                <a:latin typeface="Roboto Slab Bold" pitchFamily="34" charset="0"/>
                <a:ea typeface="Roboto Slab Bold" pitchFamily="34" charset="-122"/>
                <a:cs typeface="Roboto Slab Bold" pitchFamily="34" charset="-120"/>
              </a:rPr>
              <a:t>Questions?</a:t>
            </a:r>
            <a:endParaRPr lang="en-US" sz="3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1031</Words>
  <Application>Microsoft Office PowerPoint</Application>
  <PresentationFormat>מסך רחב</PresentationFormat>
  <Paragraphs>179</Paragraphs>
  <Slides>20</Slides>
  <Notes>20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20</vt:i4>
      </vt:variant>
    </vt:vector>
  </HeadingPairs>
  <TitlesOfParts>
    <vt:vector size="26" baseType="lpstr">
      <vt:lpstr>Roboto Bold</vt:lpstr>
      <vt:lpstr>Arial</vt:lpstr>
      <vt:lpstr>Roboto</vt:lpstr>
      <vt:lpstr>Roboto Slab Bold</vt:lpstr>
      <vt:lpstr>Roboto Slab</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ליאור אסתרקין</cp:lastModifiedBy>
  <cp:revision>2</cp:revision>
  <dcterms:created xsi:type="dcterms:W3CDTF">2026-07-04T13:39:21Z</dcterms:created>
  <dcterms:modified xsi:type="dcterms:W3CDTF">2026-07-19T12:55:31Z</dcterms:modified>
</cp:coreProperties>
</file>